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5" r:id="rId18"/>
    <p:sldId id="276" r:id="rId19"/>
    <p:sldId id="272" r:id="rId20"/>
    <p:sldId id="273" r:id="rId21"/>
    <p:sldId id="274" r:id="rId22"/>
    <p:sldId id="277" r:id="rId23"/>
    <p:sldId id="278" r:id="rId24"/>
    <p:sldId id="27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FD5B78-09B7-4551-8C32-BE3E3A1CF1E8}" v="1" dt="2026-02-27T15:59:11.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3" autoAdjust="0"/>
    <p:restoredTop sz="94660"/>
  </p:normalViewPr>
  <p:slideViewPr>
    <p:cSldViewPr snapToGrid="0">
      <p:cViewPr varScale="1">
        <p:scale>
          <a:sx n="109" d="100"/>
          <a:sy n="109" d="100"/>
        </p:scale>
        <p:origin x="732" y="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ary, Joseph D CIV NG MAARNG (USA)" userId="779534d9-4337-4ff3-98aa-2bb62dd85054" providerId="ADAL" clId="{CB76DD6E-AC63-4224-8A40-A5B3A2EFA617}"/>
    <pc:docChg chg="custSel addSld modSld">
      <pc:chgData name="Leary, Joseph D CIV NG MAARNG (USA)" userId="779534d9-4337-4ff3-98aa-2bb62dd85054" providerId="ADAL" clId="{CB76DD6E-AC63-4224-8A40-A5B3A2EFA617}" dt="2026-02-27T16:01:28.241" v="167" actId="680"/>
      <pc:docMkLst>
        <pc:docMk/>
      </pc:docMkLst>
      <pc:sldChg chg="addSp modSp mod">
        <pc:chgData name="Leary, Joseph D CIV NG MAARNG (USA)" userId="779534d9-4337-4ff3-98aa-2bb62dd85054" providerId="ADAL" clId="{CB76DD6E-AC63-4224-8A40-A5B3A2EFA617}" dt="2026-02-27T16:01:25.247" v="166" actId="962"/>
        <pc:sldMkLst>
          <pc:docMk/>
          <pc:sldMk cId="3861888063" sldId="256"/>
        </pc:sldMkLst>
        <pc:spChg chg="add mod">
          <ac:chgData name="Leary, Joseph D CIV NG MAARNG (USA)" userId="779534d9-4337-4ff3-98aa-2bb62dd85054" providerId="ADAL" clId="{CB76DD6E-AC63-4224-8A40-A5B3A2EFA617}" dt="2026-02-27T15:59:57.916" v="163" actId="20577"/>
          <ac:spMkLst>
            <pc:docMk/>
            <pc:sldMk cId="3861888063" sldId="256"/>
            <ac:spMk id="4" creationId="{02F07B4B-A5B1-04E8-C32B-8DFF4789B09C}"/>
          </ac:spMkLst>
        </pc:spChg>
        <pc:picChg chg="add mod">
          <ac:chgData name="Leary, Joseph D CIV NG MAARNG (USA)" userId="779534d9-4337-4ff3-98aa-2bb62dd85054" providerId="ADAL" clId="{CB76DD6E-AC63-4224-8A40-A5B3A2EFA617}" dt="2026-02-27T16:01:25.247" v="166" actId="962"/>
          <ac:picMkLst>
            <pc:docMk/>
            <pc:sldMk cId="3861888063" sldId="256"/>
            <ac:picMk id="6" creationId="{3A3CE6F1-4D93-4379-2926-7D715A728B44}"/>
          </ac:picMkLst>
        </pc:picChg>
      </pc:sldChg>
      <pc:sldChg chg="new">
        <pc:chgData name="Leary, Joseph D CIV NG MAARNG (USA)" userId="779534d9-4337-4ff3-98aa-2bb62dd85054" providerId="ADAL" clId="{CB76DD6E-AC63-4224-8A40-A5B3A2EFA617}" dt="2026-02-27T16:01:28.241" v="167" actId="680"/>
        <pc:sldMkLst>
          <pc:docMk/>
          <pc:sldMk cId="993993506" sldId="25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2F9CF-7065-DE77-242C-05B1D106FF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4CC6377-6CC1-86A3-DEC7-24061099E1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A17932-5B31-3166-7F5D-7A06AE047C2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D73D453F-F9B6-3FA0-AA03-6AA9896F10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7E2B66-A80E-8312-F316-7E51CBE6DCD1}"/>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8373821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2F56B-1141-DD0D-5F06-AA5A26AB1B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6C065-7EE2-D079-CE9D-6CDF0C65BB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5A62D0-6275-3CDD-410C-7D83A7C399E7}"/>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8E6A0FBB-919E-A8F1-78BB-D76478DE3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AC01D2-11F3-31F3-0DE5-EB19C5E50E03}"/>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48968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EACA9-0A20-989A-26E7-426B46DADFF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400A6E-C1BA-0E52-17C8-4B7D7D0C97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83AC08-F7E4-1D7D-CB57-E13DB98E2A36}"/>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2365F7ED-0CBD-A9FF-300C-FB3F1E38AF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B39A7-AE5B-8C78-7D15-F3679DA5FD78}"/>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375852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4937A-19D6-6BC2-0B45-CF16B29F8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6A84B5-A65F-E438-E715-D79BF8D9E9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409482-AAAD-1F70-BF37-3CF8854372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16D5B0-7962-3C31-6C46-525D0EC7718D}"/>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9F4ED630-7E20-F6F4-9CAB-C3BCE63F2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ECF65F-65F3-7CAE-75DA-5BE1219E492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999126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17C7C6-D4DB-3B97-7B88-C06EF23385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410A96-C50B-044D-4FA6-6B3628BFF7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19BBEAA-C7E9-3843-2AE9-31EF77F8F7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01DC56C-89A4-3CBE-ABC0-BEF46DCEB1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EC0844-2026-56AD-F075-37AF89A2EA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455DBF-30EC-0E9A-E980-4B4C622FDDC3}"/>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8" name="Footer Placeholder 7">
            <a:extLst>
              <a:ext uri="{FF2B5EF4-FFF2-40B4-BE49-F238E27FC236}">
                <a16:creationId xmlns:a16="http://schemas.microsoft.com/office/drawing/2014/main" id="{0E3243CD-14B4-B168-B384-BDB7CBB61D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1F335-BE81-C86D-B181-F7474A5DCA3A}"/>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0244194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88042-938D-4804-95BF-D4DAE03B2A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7CCC00-088C-D3D4-496C-1E0551EDC3E7}"/>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4" name="Footer Placeholder 3">
            <a:extLst>
              <a:ext uri="{FF2B5EF4-FFF2-40B4-BE49-F238E27FC236}">
                <a16:creationId xmlns:a16="http://schemas.microsoft.com/office/drawing/2014/main" id="{8C031110-74D2-C0B8-91CF-E60381D101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60B93-6C92-3024-5CC1-82025B774B56}"/>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6034389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37B392-74BE-E286-FA70-10C91A2DEAD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3" name="Footer Placeholder 2">
            <a:extLst>
              <a:ext uri="{FF2B5EF4-FFF2-40B4-BE49-F238E27FC236}">
                <a16:creationId xmlns:a16="http://schemas.microsoft.com/office/drawing/2014/main" id="{188BD70D-7E8A-3505-F5E7-F1D4FC61D0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A91D74-D71D-254F-607F-04FA10BD9CC0}"/>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46889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E6EE5-35F8-2A54-C7CB-2E1DFB562D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16D7F55-5DAD-3758-148D-A0C2E43088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717949-3DA1-9ABD-323B-B312C8EDC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FD49B6-D627-7F19-BA7C-1E5B6C946D79}"/>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344999B2-0647-7BFD-D071-F77D18D421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3630BB-ED89-7723-D71F-404DA541462D}"/>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33098533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91B45-BB09-DB48-69FF-A1A20A5105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1B6DD-8524-BB61-DD7F-8C814660BE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847FA4-5C66-B41D-A527-D5B61FA5E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3857A-C873-67C8-9E3A-B867A9EC613A}"/>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6" name="Footer Placeholder 5">
            <a:extLst>
              <a:ext uri="{FF2B5EF4-FFF2-40B4-BE49-F238E27FC236}">
                <a16:creationId xmlns:a16="http://schemas.microsoft.com/office/drawing/2014/main" id="{F5808F60-1D77-24A5-1A0F-867E3DB611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94ACA8-2E82-23B3-F3F0-ED6A3B2E7E92}"/>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2782904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B0A34-C4D3-5798-76A3-090A308337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E751DA-6BCF-5866-6881-CDB8A3F9DB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1C71D0-9B4B-B5A2-1898-F57820441D11}"/>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3D44D2A7-F5B7-8B9C-7E4A-AB31AB69CE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42921E-AB9B-33D7-BD39-C6E6CB0C0D2C}"/>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1243607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245ECD-9208-B1AE-9247-524AE35BF7D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2D3E36-A2B5-9E1F-77C4-B140352B2A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4AC6BA-AAE2-D3E1-1A85-6399939B1D88}"/>
              </a:ext>
            </a:extLst>
          </p:cNvPr>
          <p:cNvSpPr>
            <a:spLocks noGrp="1"/>
          </p:cNvSpPr>
          <p:nvPr>
            <p:ph type="dt" sz="half" idx="10"/>
          </p:nvPr>
        </p:nvSpPr>
        <p:spPr/>
        <p:txBody>
          <a:body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EA08B1F7-1B4D-1337-80AA-E1A77B0AD3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BB40B3-7C25-BA7E-1466-1CC76CE9E6D7}"/>
              </a:ext>
            </a:extLst>
          </p:cNvPr>
          <p:cNvSpPr>
            <a:spLocks noGrp="1"/>
          </p:cNvSpPr>
          <p:nvPr>
            <p:ph type="sldNum" sz="quarter" idx="12"/>
          </p:nvPr>
        </p:nvSpPr>
        <p:spPr/>
        <p:txBody>
          <a:bodyPr/>
          <a:lstStyle/>
          <a:p>
            <a:fld id="{5159A875-3830-4AFB-98F7-13D694E094CC}" type="slidenum">
              <a:rPr lang="en-US" smtClean="0"/>
              <a:t>‹#›</a:t>
            </a:fld>
            <a:endParaRPr lang="en-US"/>
          </a:p>
        </p:txBody>
      </p:sp>
    </p:spTree>
    <p:extLst>
      <p:ext uri="{BB962C8B-B14F-4D97-AF65-F5344CB8AC3E}">
        <p14:creationId xmlns:p14="http://schemas.microsoft.com/office/powerpoint/2010/main" val="2812221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AF0BD1-893F-0868-7173-3E3FC804DD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71037E4-6317-CEF7-DD2E-DDD5C1C95E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62A2FD-3A48-196F-35A9-0A2420BC81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EE96FE-DC9C-4536-9FF4-6BA93424ACA5}" type="datetimeFigureOut">
              <a:rPr lang="en-US" smtClean="0"/>
              <a:t>3/2/2026</a:t>
            </a:fld>
            <a:endParaRPr lang="en-US"/>
          </a:p>
        </p:txBody>
      </p:sp>
      <p:sp>
        <p:nvSpPr>
          <p:cNvPr id="5" name="Footer Placeholder 4">
            <a:extLst>
              <a:ext uri="{FF2B5EF4-FFF2-40B4-BE49-F238E27FC236}">
                <a16:creationId xmlns:a16="http://schemas.microsoft.com/office/drawing/2014/main" id="{65A14947-BAA5-6842-C2C9-E18E031F64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AE78E5D-E2DF-52A7-8809-1D54397848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59A875-3830-4AFB-98F7-13D694E094CC}" type="slidenum">
              <a:rPr lang="en-US" smtClean="0"/>
              <a:t>‹#›</a:t>
            </a:fld>
            <a:endParaRPr lang="en-US"/>
          </a:p>
        </p:txBody>
      </p:sp>
    </p:spTree>
    <p:extLst>
      <p:ext uri="{BB962C8B-B14F-4D97-AF65-F5344CB8AC3E}">
        <p14:creationId xmlns:p14="http://schemas.microsoft.com/office/powerpoint/2010/main" val="4057856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o.microsoft.com/fwlink/?linkid=2086046" TargetMode="External"/><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hyperlink" Target="https://www.google.com/url?q=https%3A%2F%2Fportal.azure.com"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2F07B4B-A5B1-04E8-C32B-8DFF4789B09C}"/>
              </a:ext>
            </a:extLst>
          </p:cNvPr>
          <p:cNvSpPr txBox="1"/>
          <p:nvPr/>
        </p:nvSpPr>
        <p:spPr>
          <a:xfrm>
            <a:off x="484742" y="638978"/>
            <a:ext cx="2588964" cy="1754326"/>
          </a:xfrm>
          <a:prstGeom prst="rect">
            <a:avLst/>
          </a:prstGeom>
          <a:noFill/>
        </p:spPr>
        <p:txBody>
          <a:bodyPr wrap="square" rtlCol="0">
            <a:spAutoFit/>
          </a:bodyPr>
          <a:lstStyle/>
          <a:p>
            <a:r>
              <a:rPr lang="en-US" dirty="0"/>
              <a:t>Already started DB, but don’t want to get too far.</a:t>
            </a:r>
          </a:p>
          <a:p>
            <a:r>
              <a:rPr lang="en-US" dirty="0"/>
              <a:t>Virtual Network up first. We want security and segments for different data/services to live on.</a:t>
            </a:r>
          </a:p>
        </p:txBody>
      </p:sp>
      <p:pic>
        <p:nvPicPr>
          <p:cNvPr id="6" name="Picture 5" descr="A screenshot of a computer&#10;&#10;AI-generated content may be incorrect.">
            <a:extLst>
              <a:ext uri="{FF2B5EF4-FFF2-40B4-BE49-F238E27FC236}">
                <a16:creationId xmlns:a16="http://schemas.microsoft.com/office/drawing/2014/main" id="{3A3CE6F1-4D93-4379-2926-7D715A728B44}"/>
              </a:ext>
            </a:extLst>
          </p:cNvPr>
          <p:cNvPicPr>
            <a:picLocks noChangeAspect="1"/>
          </p:cNvPicPr>
          <p:nvPr/>
        </p:nvPicPr>
        <p:blipFill>
          <a:blip r:embed="rId2"/>
          <a:stretch>
            <a:fillRect/>
          </a:stretch>
        </p:blipFill>
        <p:spPr>
          <a:xfrm>
            <a:off x="2300100" y="0"/>
            <a:ext cx="7591800" cy="6858000"/>
          </a:xfrm>
          <a:prstGeom prst="rect">
            <a:avLst/>
          </a:prstGeom>
        </p:spPr>
      </p:pic>
    </p:spTree>
    <p:extLst>
      <p:ext uri="{BB962C8B-B14F-4D97-AF65-F5344CB8AC3E}">
        <p14:creationId xmlns:p14="http://schemas.microsoft.com/office/powerpoint/2010/main" val="3861888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F80F84-7DA0-EDA6-93EE-7BDA4A105B5A}"/>
              </a:ext>
            </a:extLst>
          </p:cNvPr>
          <p:cNvSpPr txBox="1"/>
          <p:nvPr/>
        </p:nvSpPr>
        <p:spPr>
          <a:xfrm>
            <a:off x="597877" y="518746"/>
            <a:ext cx="2092569" cy="646331"/>
          </a:xfrm>
          <a:prstGeom prst="rect">
            <a:avLst/>
          </a:prstGeom>
          <a:noFill/>
        </p:spPr>
        <p:txBody>
          <a:bodyPr wrap="square" rtlCol="0">
            <a:spAutoFit/>
          </a:bodyPr>
          <a:lstStyle/>
          <a:p>
            <a:r>
              <a:rPr lang="en-US" dirty="0"/>
              <a:t>Adding Azure Functions app</a:t>
            </a:r>
          </a:p>
        </p:txBody>
      </p:sp>
      <p:pic>
        <p:nvPicPr>
          <p:cNvPr id="4" name="Picture 3">
            <a:extLst>
              <a:ext uri="{FF2B5EF4-FFF2-40B4-BE49-F238E27FC236}">
                <a16:creationId xmlns:a16="http://schemas.microsoft.com/office/drawing/2014/main" id="{E39A70FC-FEF1-384C-3C52-FD79809C6C4D}"/>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99399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D535B-A547-10A7-7968-004EB1FC81F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372097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23891C-D735-0137-4920-8D4F33286F1F}"/>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83128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E5DFF-C9E8-67CC-95B2-5E4F19517EE2}"/>
              </a:ext>
            </a:extLst>
          </p:cNvPr>
          <p:cNvPicPr>
            <a:picLocks noChangeAspect="1"/>
          </p:cNvPicPr>
          <p:nvPr/>
        </p:nvPicPr>
        <p:blipFill>
          <a:blip r:embed="rId2"/>
          <a:stretch>
            <a:fillRect/>
          </a:stretch>
        </p:blipFill>
        <p:spPr>
          <a:xfrm>
            <a:off x="1814914" y="0"/>
            <a:ext cx="8562172" cy="6858000"/>
          </a:xfrm>
          <a:prstGeom prst="rect">
            <a:avLst/>
          </a:prstGeom>
        </p:spPr>
      </p:pic>
    </p:spTree>
    <p:extLst>
      <p:ext uri="{BB962C8B-B14F-4D97-AF65-F5344CB8AC3E}">
        <p14:creationId xmlns:p14="http://schemas.microsoft.com/office/powerpoint/2010/main" val="2125830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27FB9D-3E38-3707-FC4E-AAD21489BE27}"/>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9D66657-158B-83E6-8AA2-49589CF72AE4}"/>
              </a:ext>
            </a:extLst>
          </p:cNvPr>
          <p:cNvSpPr txBox="1"/>
          <p:nvPr/>
        </p:nvSpPr>
        <p:spPr>
          <a:xfrm>
            <a:off x="430823" y="465992"/>
            <a:ext cx="2699239" cy="1754326"/>
          </a:xfrm>
          <a:prstGeom prst="rect">
            <a:avLst/>
          </a:prstGeom>
          <a:noFill/>
        </p:spPr>
        <p:txBody>
          <a:bodyPr wrap="square" rtlCol="0">
            <a:spAutoFit/>
          </a:bodyPr>
          <a:lstStyle/>
          <a:p>
            <a:r>
              <a:rPr lang="en-US" dirty="0"/>
              <a:t>Scary! Had to read this over a few times. I need Outbound public access to SQL over the </a:t>
            </a:r>
            <a:r>
              <a:rPr lang="en-US" dirty="0" err="1"/>
              <a:t>vnet</a:t>
            </a:r>
            <a:r>
              <a:rPr lang="en-US" dirty="0"/>
              <a:t> and Inbound public for testing.</a:t>
            </a:r>
          </a:p>
        </p:txBody>
      </p:sp>
    </p:spTree>
    <p:extLst>
      <p:ext uri="{BB962C8B-B14F-4D97-AF65-F5344CB8AC3E}">
        <p14:creationId xmlns:p14="http://schemas.microsoft.com/office/powerpoint/2010/main" val="42603352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9187BC-CA8E-BE47-ADB1-3BB7EB7A4D5A}"/>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65184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244C39-CFE7-DAE4-21B2-6692F14C06C5}"/>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65775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80A0D-EA2A-89E2-BAE6-C05189D58521}"/>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2630786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3A752B3-875D-2B43-2C43-F1376050C48E}"/>
              </a:ext>
            </a:extLst>
          </p:cNvPr>
          <p:cNvPicPr>
            <a:picLocks noChangeAspect="1"/>
          </p:cNvPicPr>
          <p:nvPr/>
        </p:nvPicPr>
        <p:blipFill>
          <a:blip r:embed="rId2"/>
          <a:stretch>
            <a:fillRect/>
          </a:stretch>
        </p:blipFill>
        <p:spPr>
          <a:xfrm>
            <a:off x="4616674" y="0"/>
            <a:ext cx="7575326" cy="6858000"/>
          </a:xfrm>
          <a:prstGeom prst="rect">
            <a:avLst/>
          </a:prstGeom>
        </p:spPr>
      </p:pic>
    </p:spTree>
    <p:extLst>
      <p:ext uri="{BB962C8B-B14F-4D97-AF65-F5344CB8AC3E}">
        <p14:creationId xmlns:p14="http://schemas.microsoft.com/office/powerpoint/2010/main" val="1037663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2130EF-4C55-E90E-1D07-D57E4E935C90}"/>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4B7A89F9-EA3A-7B3A-A4A7-C5E97D87E42C}"/>
              </a:ext>
            </a:extLst>
          </p:cNvPr>
          <p:cNvSpPr txBox="1"/>
          <p:nvPr/>
        </p:nvSpPr>
        <p:spPr>
          <a:xfrm>
            <a:off x="404445" y="606668"/>
            <a:ext cx="4062047" cy="4493538"/>
          </a:xfrm>
          <a:prstGeom prst="rect">
            <a:avLst/>
          </a:prstGeom>
          <a:noFill/>
        </p:spPr>
        <p:txBody>
          <a:bodyPr wrap="square" rtlCol="0">
            <a:spAutoFit/>
          </a:bodyPr>
          <a:lstStyle/>
          <a:p>
            <a:r>
              <a:rPr lang="en-US" sz="1100" dirty="0"/>
              <a:t>Add the WEBSITE_VNET_ROUTE_ALL to </a:t>
            </a:r>
            <a:r>
              <a:rPr lang="en-US" sz="1100" dirty="0" err="1"/>
              <a:t>Enviropnment</a:t>
            </a:r>
            <a:r>
              <a:rPr lang="en-US" sz="1100" dirty="0"/>
              <a:t> vars.</a:t>
            </a:r>
          </a:p>
          <a:p>
            <a:r>
              <a:rPr lang="en-US" sz="1100" b="1" dirty="0"/>
              <a:t>Purpose of WEBSITE_VNET_ROUTE_ALL=1</a:t>
            </a:r>
          </a:p>
          <a:p>
            <a:r>
              <a:rPr lang="en-US" sz="1100" dirty="0"/>
              <a:t>This is a special app setting for Azure App Service / Azure Functions when you have </a:t>
            </a:r>
            <a:r>
              <a:rPr lang="en-US" sz="1100" b="1" dirty="0" err="1"/>
              <a:t>VNet</a:t>
            </a:r>
            <a:r>
              <a:rPr lang="en-US" sz="1100" b="1" dirty="0"/>
              <a:t> Integration</a:t>
            </a:r>
            <a:r>
              <a:rPr lang="en-US" sz="1100" dirty="0"/>
              <a:t> enabled.</a:t>
            </a:r>
          </a:p>
          <a:p>
            <a:r>
              <a:rPr lang="en-US" sz="1100" b="1" dirty="0"/>
              <a:t>Default behavior (0 or not set)</a:t>
            </a:r>
            <a:r>
              <a:rPr lang="en-US" sz="1100" dirty="0"/>
              <a:t>: Only </a:t>
            </a:r>
            <a:r>
              <a:rPr lang="en-US" sz="1100" b="1" dirty="0"/>
              <a:t>private</a:t>
            </a:r>
            <a:r>
              <a:rPr lang="en-US" sz="1100" dirty="0"/>
              <a:t> outbound traffic (RFC 1918 addresses like 10.x.x.x, 172.16.x.x, 192.168.x.x) is sent through your </a:t>
            </a:r>
            <a:r>
              <a:rPr lang="en-US" sz="1100" dirty="0" err="1"/>
              <a:t>VNet</a:t>
            </a:r>
            <a:r>
              <a:rPr lang="en-US" sz="1100" dirty="0"/>
              <a:t>/subnet. All public internet traffic goes straight out to the internet.</a:t>
            </a:r>
          </a:p>
          <a:p>
            <a:r>
              <a:rPr lang="en-US" sz="1100" b="1" dirty="0"/>
              <a:t>When set to 1</a:t>
            </a:r>
            <a:r>
              <a:rPr lang="en-US" sz="1100" dirty="0"/>
              <a:t>: </a:t>
            </a:r>
            <a:r>
              <a:rPr lang="en-US" sz="1100" b="1" dirty="0"/>
              <a:t>ALL</a:t>
            </a:r>
            <a:r>
              <a:rPr lang="en-US" sz="1100" dirty="0"/>
              <a:t> outbound traffic from your Function App (private + public internet) is forced through the </a:t>
            </a:r>
            <a:r>
              <a:rPr lang="en-US" sz="1100" dirty="0" err="1"/>
              <a:t>VNet</a:t>
            </a:r>
            <a:r>
              <a:rPr lang="en-US" sz="1100" dirty="0"/>
              <a:t> integration subnet (in your case, WebApp-Subnet).</a:t>
            </a:r>
          </a:p>
          <a:p>
            <a:r>
              <a:rPr lang="en-US" sz="1100" b="1" dirty="0"/>
              <a:t>Why we set it for your project</a:t>
            </a:r>
            <a:r>
              <a:rPr lang="en-US" sz="1100" dirty="0"/>
              <a:t>:</a:t>
            </a:r>
          </a:p>
          <a:p>
            <a:r>
              <a:rPr lang="en-US" sz="1100" dirty="0"/>
              <a:t>Your SQL connection string uses the public-looking name dr-helpdesk-sql-2026.database.windows.net.</a:t>
            </a:r>
          </a:p>
          <a:p>
            <a:r>
              <a:rPr lang="en-US" sz="1100" dirty="0"/>
              <a:t>That name resolves (via your private DNS zone) to a </a:t>
            </a:r>
            <a:r>
              <a:rPr lang="en-US" sz="1100" b="1" dirty="0"/>
              <a:t>private IP</a:t>
            </a:r>
            <a:r>
              <a:rPr lang="en-US" sz="1100" dirty="0"/>
              <a:t> in Database-Subnet.</a:t>
            </a:r>
          </a:p>
          <a:p>
            <a:r>
              <a:rPr lang="en-US" sz="1100" dirty="0"/>
              <a:t>Setting this to 1 guarantees the traffic is routed correctly through the </a:t>
            </a:r>
            <a:r>
              <a:rPr lang="en-US" sz="1100" dirty="0" err="1"/>
              <a:t>VNet</a:t>
            </a:r>
            <a:r>
              <a:rPr lang="en-US" sz="1100" dirty="0"/>
              <a:t> → hits the Private Endpoint reliably.</a:t>
            </a:r>
          </a:p>
          <a:p>
            <a:r>
              <a:rPr lang="en-US" sz="1100" dirty="0"/>
              <a:t>It also handles DNS resolution, storage account access (for Functions runtime), and any other outbound calls consistently.</a:t>
            </a:r>
          </a:p>
          <a:p>
            <a:r>
              <a:rPr lang="en-US" sz="1100" dirty="0"/>
              <a:t>Without it, you can sometimes hit intermittent “cannot reach SQL” or DNS issues, especially with cross-region setups like yours (East US </a:t>
            </a:r>
            <a:r>
              <a:rPr lang="en-US" sz="1100" dirty="0" err="1"/>
              <a:t>VNet</a:t>
            </a:r>
            <a:r>
              <a:rPr lang="en-US" sz="1100" dirty="0"/>
              <a:t> → Central US SQL).</a:t>
            </a:r>
          </a:p>
          <a:p>
            <a:r>
              <a:rPr lang="en-US" sz="1100" dirty="0"/>
              <a:t>It’s the standard, battle-tested way to make private SQL + Functions work smoothly.</a:t>
            </a:r>
          </a:p>
          <a:p>
            <a:endParaRPr lang="en-US" sz="1100" dirty="0"/>
          </a:p>
        </p:txBody>
      </p:sp>
    </p:spTree>
    <p:extLst>
      <p:ext uri="{BB962C8B-B14F-4D97-AF65-F5344CB8AC3E}">
        <p14:creationId xmlns:p14="http://schemas.microsoft.com/office/powerpoint/2010/main" val="3048681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C4729C-E45A-2680-E420-B1B9F38B82DD}"/>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4175307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787B9B-AB72-0BB3-37D9-EC2AA8143876}"/>
              </a:ext>
            </a:extLst>
          </p:cNvPr>
          <p:cNvPicPr>
            <a:picLocks noChangeAspect="1"/>
          </p:cNvPicPr>
          <p:nvPr/>
        </p:nvPicPr>
        <p:blipFill>
          <a:blip r:embed="rId2"/>
          <a:stretch>
            <a:fillRect/>
          </a:stretch>
        </p:blipFill>
        <p:spPr>
          <a:xfrm>
            <a:off x="1857375" y="690562"/>
            <a:ext cx="8477250" cy="5476875"/>
          </a:xfrm>
          <a:prstGeom prst="rect">
            <a:avLst/>
          </a:prstGeom>
        </p:spPr>
      </p:pic>
    </p:spTree>
    <p:extLst>
      <p:ext uri="{BB962C8B-B14F-4D97-AF65-F5344CB8AC3E}">
        <p14:creationId xmlns:p14="http://schemas.microsoft.com/office/powerpoint/2010/main" val="3373311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021BFD-447D-DC9B-9214-DC6D4C8F69EE}"/>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303E087E-0F7F-5119-5C40-36BFDA854FFA}"/>
              </a:ext>
            </a:extLst>
          </p:cNvPr>
          <p:cNvSpPr txBox="1"/>
          <p:nvPr/>
        </p:nvSpPr>
        <p:spPr>
          <a:xfrm>
            <a:off x="509954" y="378069"/>
            <a:ext cx="2839915" cy="923330"/>
          </a:xfrm>
          <a:prstGeom prst="rect">
            <a:avLst/>
          </a:prstGeom>
          <a:noFill/>
        </p:spPr>
        <p:txBody>
          <a:bodyPr wrap="square" rtlCol="0">
            <a:spAutoFit/>
          </a:bodyPr>
          <a:lstStyle/>
          <a:p>
            <a:r>
              <a:rPr lang="en-US" dirty="0"/>
              <a:t>Add the SQL connection string as an environment var in app</a:t>
            </a:r>
          </a:p>
        </p:txBody>
      </p:sp>
    </p:spTree>
    <p:extLst>
      <p:ext uri="{BB962C8B-B14F-4D97-AF65-F5344CB8AC3E}">
        <p14:creationId xmlns:p14="http://schemas.microsoft.com/office/powerpoint/2010/main" val="734405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0BAF048-E1EA-CD54-061E-85C58DD3E732}"/>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E4B5D688-0D98-1401-78D2-7516057BA2C5}"/>
              </a:ext>
            </a:extLst>
          </p:cNvPr>
          <p:cNvSpPr txBox="1"/>
          <p:nvPr/>
        </p:nvSpPr>
        <p:spPr>
          <a:xfrm>
            <a:off x="79843" y="492370"/>
            <a:ext cx="4536831" cy="3139321"/>
          </a:xfrm>
          <a:prstGeom prst="rect">
            <a:avLst/>
          </a:prstGeom>
          <a:noFill/>
        </p:spPr>
        <p:txBody>
          <a:bodyPr wrap="square" rtlCol="0">
            <a:spAutoFit/>
          </a:bodyPr>
          <a:lstStyle/>
          <a:p>
            <a:r>
              <a:rPr lang="en-US" dirty="0"/>
              <a:t>Authorize GitHub</a:t>
            </a:r>
          </a:p>
          <a:p>
            <a:r>
              <a:rPr lang="en-US" dirty="0"/>
              <a:t>App Service will place a GitHub Actions workflow in your chosen repository to build and deploy your app whenever there is a commit on the chosen branch. If you can't find an organization or repository, you may need to enable additional permissions on GitHub. You must have write access to your chosen GitHub repository to deploy with GitHub Actions.</a:t>
            </a:r>
            <a:br>
              <a:rPr lang="en-US" dirty="0">
                <a:hlinkClick r:id="rId3"/>
              </a:rPr>
            </a:br>
            <a:endParaRPr lang="en-US" dirty="0"/>
          </a:p>
        </p:txBody>
      </p:sp>
    </p:spTree>
    <p:extLst>
      <p:ext uri="{BB962C8B-B14F-4D97-AF65-F5344CB8AC3E}">
        <p14:creationId xmlns:p14="http://schemas.microsoft.com/office/powerpoint/2010/main" val="31668439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EBFAD50-FD5C-8D6A-6B06-37D770AB632F}"/>
              </a:ext>
            </a:extLst>
          </p:cNvPr>
          <p:cNvPicPr>
            <a:picLocks noChangeAspect="1"/>
          </p:cNvPicPr>
          <p:nvPr/>
        </p:nvPicPr>
        <p:blipFill>
          <a:blip r:embed="rId2"/>
          <a:stretch>
            <a:fillRect/>
          </a:stretch>
        </p:blipFill>
        <p:spPr>
          <a:xfrm>
            <a:off x="0" y="685483"/>
            <a:ext cx="12192000" cy="5487034"/>
          </a:xfrm>
          <a:prstGeom prst="rect">
            <a:avLst/>
          </a:prstGeom>
        </p:spPr>
      </p:pic>
    </p:spTree>
    <p:extLst>
      <p:ext uri="{BB962C8B-B14F-4D97-AF65-F5344CB8AC3E}">
        <p14:creationId xmlns:p14="http://schemas.microsoft.com/office/powerpoint/2010/main" val="3941072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BB83FB47-47D2-6BF5-E3A9-277E380FCF68}"/>
              </a:ext>
            </a:extLst>
          </p:cNvPr>
          <p:cNvSpPr txBox="1"/>
          <p:nvPr/>
        </p:nvSpPr>
        <p:spPr>
          <a:xfrm>
            <a:off x="1872762" y="1143000"/>
            <a:ext cx="9645161" cy="2699238"/>
          </a:xfrm>
          <a:prstGeom prst="rect">
            <a:avLst/>
          </a:prstGeom>
          <a:noFill/>
        </p:spPr>
        <p:txBody>
          <a:bodyPr wrap="square" rtlCol="0">
            <a:normAutofit/>
          </a:bodyPr>
          <a:lstStyle/>
          <a:p>
            <a:endParaRPr lang="en-US" dirty="0"/>
          </a:p>
        </p:txBody>
      </p:sp>
      <p:graphicFrame>
        <p:nvGraphicFramePr>
          <p:cNvPr id="36" name="Table 35">
            <a:extLst>
              <a:ext uri="{FF2B5EF4-FFF2-40B4-BE49-F238E27FC236}">
                <a16:creationId xmlns:a16="http://schemas.microsoft.com/office/drawing/2014/main" id="{754D32CF-E80F-AB21-CCED-3D5004A8F81B}"/>
              </a:ext>
            </a:extLst>
          </p:cNvPr>
          <p:cNvGraphicFramePr>
            <a:graphicFrameLocks noGrp="1"/>
          </p:cNvGraphicFramePr>
          <p:nvPr>
            <p:extLst>
              <p:ext uri="{D42A27DB-BD31-4B8C-83A1-F6EECF244321}">
                <p14:modId xmlns:p14="http://schemas.microsoft.com/office/powerpoint/2010/main" val="3660533112"/>
              </p:ext>
            </p:extLst>
          </p:nvPr>
        </p:nvGraphicFramePr>
        <p:xfrm>
          <a:off x="4217577" y="190322"/>
          <a:ext cx="5985120" cy="4466367"/>
        </p:xfrm>
        <a:graphic>
          <a:graphicData uri="http://schemas.openxmlformats.org/drawingml/2006/table">
            <a:tbl>
              <a:tblPr/>
              <a:tblGrid>
                <a:gridCol w="1995040">
                  <a:extLst>
                    <a:ext uri="{9D8B030D-6E8A-4147-A177-3AD203B41FA5}">
                      <a16:colId xmlns:a16="http://schemas.microsoft.com/office/drawing/2014/main" val="1740388689"/>
                    </a:ext>
                  </a:extLst>
                </a:gridCol>
                <a:gridCol w="1995040">
                  <a:extLst>
                    <a:ext uri="{9D8B030D-6E8A-4147-A177-3AD203B41FA5}">
                      <a16:colId xmlns:a16="http://schemas.microsoft.com/office/drawing/2014/main" val="1669210002"/>
                    </a:ext>
                  </a:extLst>
                </a:gridCol>
                <a:gridCol w="1995040">
                  <a:extLst>
                    <a:ext uri="{9D8B030D-6E8A-4147-A177-3AD203B41FA5}">
                      <a16:colId xmlns:a16="http://schemas.microsoft.com/office/drawing/2014/main" val="187599189"/>
                    </a:ext>
                  </a:extLst>
                </a:gridCol>
              </a:tblGrid>
              <a:tr h="175432">
                <a:tc>
                  <a:txBody>
                    <a:bodyPr/>
                    <a:lstStyle/>
                    <a:p>
                      <a:pPr algn="l" fontAlgn="t">
                        <a:buNone/>
                      </a:pPr>
                      <a:r>
                        <a:rPr lang="en-US" sz="700" b="0">
                          <a:solidFill>
                            <a:srgbClr val="FFFFFF"/>
                          </a:solidFill>
                          <a:effectLst/>
                        </a:rPr>
                        <a:t>Step</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b="0">
                          <a:solidFill>
                            <a:srgbClr val="FFFFFF"/>
                          </a:solidFill>
                          <a:effectLst/>
                        </a:rPr>
                        <a:t>Action</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b="0">
                          <a:solidFill>
                            <a:srgbClr val="FFFFFF"/>
                          </a:solidFill>
                          <a:effectLst/>
                        </a:rPr>
                        <a:t>Details</a:t>
                      </a:r>
                    </a:p>
                  </a:txBody>
                  <a:tcPr marL="31327" marR="31327" marT="31327" marB="31327">
                    <a:lnL>
                      <a:noFill/>
                    </a:lnL>
                    <a:lnR>
                      <a:noFill/>
                    </a:lnR>
                    <a:lnT>
                      <a:noFill/>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3409849585"/>
                  </a:ext>
                </a:extLst>
              </a:tr>
              <a:tr h="913186">
                <a:tc>
                  <a:txBody>
                    <a:bodyPr/>
                    <a:lstStyle/>
                    <a:p>
                      <a:pPr algn="l" fontAlgn="t">
                        <a:buNone/>
                      </a:pPr>
                      <a:r>
                        <a:rPr lang="en-US" sz="700" b="0">
                          <a:solidFill>
                            <a:srgbClr val="FFFFFF"/>
                          </a:solidFill>
                          <a:effectLst/>
                          <a:latin typeface="Google Sans Text"/>
                        </a:rPr>
                        <a:t>1. Download the Publish Profile</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Go to the </a:t>
                      </a:r>
                      <a:r>
                        <a:rPr lang="en-US" sz="700" b="0" u="none" strike="noStrike">
                          <a:solidFill>
                            <a:srgbClr val="A8C7FA"/>
                          </a:solidFill>
                          <a:effectLst/>
                          <a:latin typeface="Google Sans Text"/>
                          <a:hlinkClick r:id="rId2" tooltip="https://portal.azure.com"/>
                        </a:rPr>
                        <a:t>Azure Portal</a:t>
                      </a:r>
                      <a:r>
                        <a:rPr lang="en-US" sz="700">
                          <a:solidFill>
                            <a:srgbClr val="FFFFFF"/>
                          </a:solidFill>
                          <a:effectLst/>
                        </a:rPr>
                        <a:t>. Navigate to your </a:t>
                      </a:r>
                      <a:r>
                        <a:rPr lang="en-US" sz="700" b="0">
                          <a:solidFill>
                            <a:srgbClr val="FFFFFF"/>
                          </a:solidFill>
                          <a:effectLst/>
                          <a:latin typeface="Google Sans Mono"/>
                        </a:rPr>
                        <a:t>dr-helpdesk-webapp</a:t>
                      </a:r>
                      <a:r>
                        <a:rPr lang="en-US" sz="700">
                          <a:solidFill>
                            <a:srgbClr val="FFFFFF"/>
                          </a:solidFill>
                          <a:effectLst/>
                        </a:rPr>
                        <a:t> App Service. On its </a:t>
                      </a:r>
                      <a:r>
                        <a:rPr lang="en-US" sz="700" b="0">
                          <a:solidFill>
                            <a:srgbClr val="FFFFFF"/>
                          </a:solidFill>
                          <a:effectLst/>
                          <a:latin typeface="Google Sans Text"/>
                        </a:rPr>
                        <a:t>Overview</a:t>
                      </a:r>
                      <a:r>
                        <a:rPr lang="en-US" sz="700">
                          <a:solidFill>
                            <a:srgbClr val="FFFFFF"/>
                          </a:solidFill>
                          <a:effectLst/>
                        </a:rPr>
                        <a:t> page, find and click the </a:t>
                      </a:r>
                      <a:r>
                        <a:rPr lang="en-US" sz="700" b="0">
                          <a:solidFill>
                            <a:srgbClr val="FFFFFF"/>
                          </a:solidFill>
                          <a:effectLst/>
                          <a:latin typeface="Google Sans Text"/>
                        </a:rPr>
                        <a:t>"Download publish profile"</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A file named </a:t>
                      </a:r>
                      <a:r>
                        <a:rPr lang="en-US" sz="700" b="0">
                          <a:solidFill>
                            <a:srgbClr val="FFFFFF"/>
                          </a:solidFill>
                          <a:effectLst/>
                          <a:latin typeface="Google Sans Mono"/>
                        </a:rPr>
                        <a:t>dr-helpdesk-webapp.PublishSettings</a:t>
                      </a:r>
                      <a:r>
                        <a:rPr lang="en-US" sz="700">
                          <a:solidFill>
                            <a:srgbClr val="FFFFFF"/>
                          </a:solidFill>
                          <a:effectLst/>
                        </a:rPr>
                        <a:t> will be downloaded. This is a simple text file containing XML credentials.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279260947"/>
                  </a:ext>
                </a:extLst>
              </a:tr>
              <a:tr h="964875">
                <a:tc>
                  <a:txBody>
                    <a:bodyPr/>
                    <a:lstStyle/>
                    <a:p>
                      <a:pPr algn="l" fontAlgn="t">
                        <a:buNone/>
                      </a:pPr>
                      <a:r>
                        <a:rPr lang="en-US" sz="700" b="0">
                          <a:solidFill>
                            <a:srgbClr val="FFFFFF"/>
                          </a:solidFill>
                          <a:effectLst/>
                          <a:latin typeface="Google Sans Text"/>
                        </a:rPr>
                        <a:t>2. Go to GitHub Secrets</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dirty="0">
                          <a:solidFill>
                            <a:srgbClr val="FFFFFF"/>
                          </a:solidFill>
                          <a:effectLst/>
                        </a:rPr>
                        <a:t>Open your GitHub repository in a web browser. Go to the </a:t>
                      </a:r>
                      <a:r>
                        <a:rPr lang="en-US" sz="700" b="0" dirty="0">
                          <a:solidFill>
                            <a:srgbClr val="FFFFFF"/>
                          </a:solidFill>
                          <a:effectLst/>
                          <a:latin typeface="Google Sans Text"/>
                        </a:rPr>
                        <a:t>Settings</a:t>
                      </a:r>
                      <a:r>
                        <a:rPr lang="en-US" sz="700" dirty="0">
                          <a:solidFill>
                            <a:srgbClr val="FFFFFF"/>
                          </a:solidFill>
                          <a:effectLst/>
                        </a:rPr>
                        <a:t> tab. In the left menu, under "Security", click on </a:t>
                      </a:r>
                      <a:r>
                        <a:rPr lang="en-US" sz="700" b="0" dirty="0">
                          <a:solidFill>
                            <a:srgbClr val="FFFFFF"/>
                          </a:solidFill>
                          <a:effectLst/>
                          <a:latin typeface="Google Sans Text"/>
                        </a:rPr>
                        <a:t>Secrets and variables &gt; Actions</a:t>
                      </a:r>
                      <a:r>
                        <a:rPr lang="en-US" sz="700" dirty="0">
                          <a:solidFill>
                            <a:srgbClr val="FFFFFF"/>
                          </a:solidFill>
                          <a:effectLst/>
                        </a:rPr>
                        <a:t>.</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This is the secure vault where you can store sensitive information for your workflows.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2516805366"/>
                  </a:ext>
                </a:extLst>
              </a:tr>
              <a:tr h="400987">
                <a:tc>
                  <a:txBody>
                    <a:bodyPr/>
                    <a:lstStyle/>
                    <a:p>
                      <a:pPr algn="l" fontAlgn="t">
                        <a:buNone/>
                      </a:pPr>
                      <a:r>
                        <a:rPr lang="en-US" sz="700" b="0">
                          <a:solidFill>
                            <a:srgbClr val="FFFFFF"/>
                          </a:solidFill>
                          <a:effectLst/>
                          <a:latin typeface="Google Sans Text"/>
                        </a:rPr>
                        <a:t>3. Create a New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Click the </a:t>
                      </a:r>
                      <a:r>
                        <a:rPr lang="en-US" sz="700" b="0">
                          <a:solidFill>
                            <a:srgbClr val="FFFFFF"/>
                          </a:solidFill>
                          <a:effectLst/>
                          <a:latin typeface="Google Sans Text"/>
                        </a:rPr>
                        <a:t>"New repository secret"</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You'll be presented with two text boxes: "Name" and "Value".</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2896723331"/>
                  </a:ext>
                </a:extLst>
              </a:tr>
              <a:tr h="1383093">
                <a:tc>
                  <a:txBody>
                    <a:bodyPr/>
                    <a:lstStyle/>
                    <a:p>
                      <a:pPr algn="l" fontAlgn="t">
                        <a:buNone/>
                      </a:pPr>
                      <a:r>
                        <a:rPr lang="en-US" sz="700" b="0">
                          <a:solidFill>
                            <a:srgbClr val="FFFFFF"/>
                          </a:solidFill>
                          <a:effectLst/>
                          <a:latin typeface="Google Sans Text"/>
                        </a:rPr>
                        <a:t>4. Store the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700">
                          <a:solidFill>
                            <a:srgbClr val="FFFFFF"/>
                          </a:solidFill>
                          <a:effectLst/>
                        </a:rPr>
                        <a:t>In the </a:t>
                      </a:r>
                      <a:r>
                        <a:rPr lang="en-US" sz="700" b="0">
                          <a:solidFill>
                            <a:srgbClr val="FFFFFF"/>
                          </a:solidFill>
                          <a:effectLst/>
                          <a:latin typeface="Google Sans Text"/>
                        </a:rPr>
                        <a:t>Name</a:t>
                      </a:r>
                      <a:r>
                        <a:rPr lang="en-US" sz="700">
                          <a:solidFill>
                            <a:srgbClr val="FFFFFF"/>
                          </a:solidFill>
                          <a:effectLst/>
                        </a:rPr>
                        <a:t> box, type exactly: </a:t>
                      </a:r>
                      <a:r>
                        <a:rPr lang="en-US" sz="700" b="0">
                          <a:solidFill>
                            <a:srgbClr val="FFFFFF"/>
                          </a:solidFill>
                          <a:effectLst/>
                          <a:latin typeface="Google Sans Mono"/>
                        </a:rPr>
                        <a:t>AZURE_WEBAPP_PUBLISH_PROFILE</a:t>
                      </a:r>
                      <a:r>
                        <a:rPr lang="en-US" sz="700">
                          <a:solidFill>
                            <a:srgbClr val="FFFFFF"/>
                          </a:solidFill>
                          <a:effectLst/>
                        </a:rPr>
                        <a:t> Now, open the </a:t>
                      </a:r>
                      <a:r>
                        <a:rPr lang="en-US" sz="700" b="0">
                          <a:solidFill>
                            <a:srgbClr val="FFFFFF"/>
                          </a:solidFill>
                          <a:effectLst/>
                          <a:latin typeface="Google Sans Mono"/>
                        </a:rPr>
                        <a:t>.PublishSettings</a:t>
                      </a:r>
                      <a:r>
                        <a:rPr lang="en-US" sz="700">
                          <a:solidFill>
                            <a:srgbClr val="FFFFFF"/>
                          </a:solidFill>
                          <a:effectLst/>
                        </a:rPr>
                        <a:t> file you downloaded in a text editor (like Notepad). Copy the </a:t>
                      </a:r>
                      <a:r>
                        <a:rPr lang="en-US" sz="700" i="1">
                          <a:solidFill>
                            <a:srgbClr val="FFFFFF"/>
                          </a:solidFill>
                          <a:effectLst/>
                        </a:rPr>
                        <a:t>entire contents</a:t>
                      </a:r>
                      <a:r>
                        <a:rPr lang="en-US" sz="700">
                          <a:solidFill>
                            <a:srgbClr val="FFFFFF"/>
                          </a:solidFill>
                          <a:effectLst/>
                        </a:rPr>
                        <a:t> of the file. Paste that entire block of text into the </a:t>
                      </a:r>
                      <a:r>
                        <a:rPr lang="en-US" sz="700" b="0">
                          <a:solidFill>
                            <a:srgbClr val="FFFFFF"/>
                          </a:solidFill>
                          <a:effectLst/>
                          <a:latin typeface="Google Sans Text"/>
                        </a:rPr>
                        <a:t>Value</a:t>
                      </a:r>
                      <a:r>
                        <a:rPr lang="en-US" sz="700">
                          <a:solidFill>
                            <a:srgbClr val="FFFFFF"/>
                          </a:solidFill>
                          <a:effectLst/>
                        </a:rPr>
                        <a:t> (or </a:t>
                      </a:r>
                      <a:r>
                        <a:rPr lang="en-US" sz="700" b="0">
                          <a:solidFill>
                            <a:srgbClr val="FFFFFF"/>
                          </a:solidFill>
                          <a:effectLst/>
                          <a:latin typeface="Google Sans Text"/>
                        </a:rPr>
                        <a:t>Secret</a:t>
                      </a:r>
                      <a:r>
                        <a:rPr lang="en-US" sz="700">
                          <a:solidFill>
                            <a:srgbClr val="FFFFFF"/>
                          </a:solidFill>
                          <a:effectLst/>
                        </a:rPr>
                        <a:t>) box on GitHub.</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700">
                          <a:solidFill>
                            <a:srgbClr val="FFFFFF"/>
                          </a:solidFill>
                          <a:effectLst/>
                        </a:rPr>
                        <a:t>This name is case-sensitive and must match what our workflow file expects.</a:t>
                      </a:r>
                    </a:p>
                  </a:txBody>
                  <a:tcPr marL="31327" marR="31327" marT="31327" marB="31327">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3833217303"/>
                  </a:ext>
                </a:extLst>
              </a:tr>
              <a:tr h="513765">
                <a:tc>
                  <a:txBody>
                    <a:bodyPr/>
                    <a:lstStyle/>
                    <a:p>
                      <a:pPr algn="l" fontAlgn="t">
                        <a:buNone/>
                      </a:pPr>
                      <a:r>
                        <a:rPr lang="en-US" sz="700" b="0">
                          <a:solidFill>
                            <a:srgbClr val="FFFFFF"/>
                          </a:solidFill>
                          <a:effectLst/>
                          <a:latin typeface="Google Sans Text"/>
                        </a:rPr>
                        <a:t>5. Save the Secret</a:t>
                      </a:r>
                      <a:endParaRPr lang="en-US" sz="700">
                        <a:solidFill>
                          <a:srgbClr val="FFFFFF"/>
                        </a:solidFill>
                        <a:effectLst/>
                      </a:endParaRP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700">
                          <a:solidFill>
                            <a:srgbClr val="FFFFFF"/>
                          </a:solidFill>
                          <a:effectLst/>
                        </a:rPr>
                        <a:t>Click the </a:t>
                      </a:r>
                      <a:r>
                        <a:rPr lang="en-US" sz="700" b="0">
                          <a:solidFill>
                            <a:srgbClr val="FFFFFF"/>
                          </a:solidFill>
                          <a:effectLst/>
                          <a:latin typeface="Google Sans Text"/>
                        </a:rPr>
                        <a:t>"Add secret"</a:t>
                      </a:r>
                      <a:r>
                        <a:rPr lang="en-US" sz="700">
                          <a:solidFill>
                            <a:srgbClr val="FFFFFF"/>
                          </a:solidFill>
                          <a:effectLst/>
                        </a:rPr>
                        <a:t> button.</a:t>
                      </a: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700" dirty="0">
                          <a:solidFill>
                            <a:srgbClr val="FFFFFF"/>
                          </a:solidFill>
                          <a:effectLst/>
                        </a:rPr>
                        <a:t>Your secret is now securely stored and ready for the workflow to use.</a:t>
                      </a:r>
                    </a:p>
                  </a:txBody>
                  <a:tcPr marL="31327" marR="31327" marT="31327" marB="31327">
                    <a:lnL>
                      <a:noFill/>
                    </a:lnL>
                    <a:lnR>
                      <a:noFill/>
                    </a:lnR>
                    <a:lnT w="9525" cap="flat" cmpd="sng" algn="ctr">
                      <a:solidFill>
                        <a:srgbClr val="444746"/>
                      </a:solidFill>
                      <a:prstDash val="solid"/>
                      <a:round/>
                      <a:headEnd type="none" w="med" len="med"/>
                      <a:tailEnd type="none" w="med" len="med"/>
                    </a:lnT>
                    <a:lnB>
                      <a:noFill/>
                    </a:lnB>
                    <a:solidFill>
                      <a:srgbClr val="131314"/>
                    </a:solidFill>
                  </a:tcPr>
                </a:tc>
                <a:extLst>
                  <a:ext uri="{0D108BD9-81ED-4DB2-BD59-A6C34878D82A}">
                    <a16:rowId xmlns:a16="http://schemas.microsoft.com/office/drawing/2014/main" val="4107439912"/>
                  </a:ext>
                </a:extLst>
              </a:tr>
            </a:tbl>
          </a:graphicData>
        </a:graphic>
      </p:graphicFrame>
      <p:sp>
        <p:nvSpPr>
          <p:cNvPr id="37" name="TextBox 36">
            <a:extLst>
              <a:ext uri="{FF2B5EF4-FFF2-40B4-BE49-F238E27FC236}">
                <a16:creationId xmlns:a16="http://schemas.microsoft.com/office/drawing/2014/main" id="{CE9F1366-61AA-88D1-A833-7449BAAC91E0}"/>
              </a:ext>
            </a:extLst>
          </p:cNvPr>
          <p:cNvSpPr txBox="1"/>
          <p:nvPr/>
        </p:nvSpPr>
        <p:spPr>
          <a:xfrm>
            <a:off x="923192" y="606669"/>
            <a:ext cx="2400300" cy="369332"/>
          </a:xfrm>
          <a:prstGeom prst="rect">
            <a:avLst/>
          </a:prstGeom>
          <a:noFill/>
        </p:spPr>
        <p:txBody>
          <a:bodyPr wrap="square" rtlCol="0">
            <a:spAutoFit/>
          </a:bodyPr>
          <a:lstStyle/>
          <a:p>
            <a:r>
              <a:rPr lang="en-US" dirty="0"/>
              <a:t>Finishing GitHub auth</a:t>
            </a:r>
          </a:p>
        </p:txBody>
      </p:sp>
    </p:spTree>
    <p:extLst>
      <p:ext uri="{BB962C8B-B14F-4D97-AF65-F5344CB8AC3E}">
        <p14:creationId xmlns:p14="http://schemas.microsoft.com/office/powerpoint/2010/main" val="2637092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822B216-50C9-88B7-211A-4719273A80A2}"/>
              </a:ext>
            </a:extLst>
          </p:cNvPr>
          <p:cNvSpPr txBox="1"/>
          <p:nvPr/>
        </p:nvSpPr>
        <p:spPr>
          <a:xfrm>
            <a:off x="1819835" y="946466"/>
            <a:ext cx="6096000" cy="877163"/>
          </a:xfrm>
          <a:prstGeom prst="rect">
            <a:avLst/>
          </a:prstGeom>
          <a:noFill/>
        </p:spPr>
        <p:txBody>
          <a:bodyPr wrap="square">
            <a:spAutoFit/>
          </a:bodyPr>
          <a:lstStyle/>
          <a:p>
            <a:pPr algn="l">
              <a:lnSpc>
                <a:spcPts val="1800"/>
              </a:lnSpc>
              <a:buNone/>
            </a:pPr>
            <a:r>
              <a:rPr lang="en-US" b="1" dirty="0">
                <a:effectLst/>
                <a:latin typeface="Google Sans Text"/>
              </a:rPr>
              <a:t>Phase 2: Create the Workflow File</a:t>
            </a:r>
          </a:p>
          <a:p>
            <a:pPr algn="l">
              <a:buNone/>
            </a:pPr>
            <a:r>
              <a:rPr lang="en-US" b="0" i="0" dirty="0">
                <a:effectLst/>
                <a:latin typeface="Google Sans Text"/>
              </a:rPr>
              <a:t>Now we create the "recipe" file that tells GitHub Actions how to build and deploy your app.</a:t>
            </a:r>
          </a:p>
        </p:txBody>
      </p:sp>
      <p:graphicFrame>
        <p:nvGraphicFramePr>
          <p:cNvPr id="6" name="Table 5">
            <a:extLst>
              <a:ext uri="{FF2B5EF4-FFF2-40B4-BE49-F238E27FC236}">
                <a16:creationId xmlns:a16="http://schemas.microsoft.com/office/drawing/2014/main" id="{65556AFC-364B-ED58-23C2-4775F4B3A898}"/>
              </a:ext>
            </a:extLst>
          </p:cNvPr>
          <p:cNvGraphicFramePr>
            <a:graphicFrameLocks noGrp="1"/>
          </p:cNvGraphicFramePr>
          <p:nvPr>
            <p:extLst>
              <p:ext uri="{D42A27DB-BD31-4B8C-83A1-F6EECF244321}">
                <p14:modId xmlns:p14="http://schemas.microsoft.com/office/powerpoint/2010/main" val="2575604780"/>
              </p:ext>
            </p:extLst>
          </p:nvPr>
        </p:nvGraphicFramePr>
        <p:xfrm>
          <a:off x="753036" y="1946350"/>
          <a:ext cx="10954872" cy="4357315"/>
        </p:xfrm>
        <a:graphic>
          <a:graphicData uri="http://schemas.openxmlformats.org/drawingml/2006/table">
            <a:tbl>
              <a:tblPr/>
              <a:tblGrid>
                <a:gridCol w="3651624">
                  <a:extLst>
                    <a:ext uri="{9D8B030D-6E8A-4147-A177-3AD203B41FA5}">
                      <a16:colId xmlns:a16="http://schemas.microsoft.com/office/drawing/2014/main" val="1643597154"/>
                    </a:ext>
                  </a:extLst>
                </a:gridCol>
                <a:gridCol w="3651624">
                  <a:extLst>
                    <a:ext uri="{9D8B030D-6E8A-4147-A177-3AD203B41FA5}">
                      <a16:colId xmlns:a16="http://schemas.microsoft.com/office/drawing/2014/main" val="1487544534"/>
                    </a:ext>
                  </a:extLst>
                </a:gridCol>
                <a:gridCol w="3651624">
                  <a:extLst>
                    <a:ext uri="{9D8B030D-6E8A-4147-A177-3AD203B41FA5}">
                      <a16:colId xmlns:a16="http://schemas.microsoft.com/office/drawing/2014/main" val="459435501"/>
                    </a:ext>
                  </a:extLst>
                </a:gridCol>
              </a:tblGrid>
              <a:tr h="275183">
                <a:tc>
                  <a:txBody>
                    <a:bodyPr/>
                    <a:lstStyle/>
                    <a:p>
                      <a:pPr algn="l" fontAlgn="t">
                        <a:buNone/>
                      </a:pPr>
                      <a:r>
                        <a:rPr lang="en-US" sz="1200" b="0">
                          <a:solidFill>
                            <a:srgbClr val="FFFFFF"/>
                          </a:solidFill>
                          <a:effectLst/>
                        </a:rPr>
                        <a:t>Step</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b="0">
                          <a:solidFill>
                            <a:srgbClr val="FFFFFF"/>
                          </a:solidFill>
                          <a:effectLst/>
                        </a:rPr>
                        <a:t>Action</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b="0">
                          <a:solidFill>
                            <a:srgbClr val="FFFFFF"/>
                          </a:solidFill>
                          <a:effectLst/>
                        </a:rPr>
                        <a:t>Details</a:t>
                      </a:r>
                    </a:p>
                  </a:txBody>
                  <a:tcPr marL="49140" marR="49140" marT="49140" marB="49140">
                    <a:lnL>
                      <a:noFill/>
                    </a:lnL>
                    <a:lnR>
                      <a:noFill/>
                    </a:lnR>
                    <a:lnT>
                      <a:noFill/>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668946431"/>
                  </a:ext>
                </a:extLst>
              </a:tr>
              <a:tr h="805894">
                <a:tc>
                  <a:txBody>
                    <a:bodyPr/>
                    <a:lstStyle/>
                    <a:p>
                      <a:pPr algn="l" fontAlgn="t">
                        <a:buNone/>
                      </a:pPr>
                      <a:r>
                        <a:rPr lang="en-US" sz="1200" b="0">
                          <a:solidFill>
                            <a:srgbClr val="FFFFFF"/>
                          </a:solidFill>
                          <a:effectLst/>
                          <a:latin typeface="Google Sans Text"/>
                        </a:rPr>
                        <a:t>1. Go to the "Actions" tab</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In your GitHub repository, click on the </a:t>
                      </a:r>
                      <a:r>
                        <a:rPr lang="en-US" sz="1200" b="0">
                          <a:solidFill>
                            <a:srgbClr val="FFFFFF"/>
                          </a:solidFill>
                          <a:effectLst/>
                          <a:latin typeface="Google Sans Text"/>
                        </a:rPr>
                        <a:t>Actions</a:t>
                      </a:r>
                      <a:r>
                        <a:rPr lang="en-US" sz="1200">
                          <a:solidFill>
                            <a:srgbClr val="FFFFFF"/>
                          </a:solidFill>
                          <a:effectLst/>
                        </a:rPr>
                        <a:t> tab at the top.</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GitHub might suggest some common workflow templates.</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07813642"/>
                  </a:ext>
                </a:extLst>
              </a:tr>
              <a:tr h="1579848">
                <a:tc>
                  <a:txBody>
                    <a:bodyPr/>
                    <a:lstStyle/>
                    <a:p>
                      <a:pPr algn="l" fontAlgn="t">
                        <a:buNone/>
                      </a:pPr>
                      <a:r>
                        <a:rPr lang="en-US" sz="1200" b="0">
                          <a:solidFill>
                            <a:srgbClr val="FFFFFF"/>
                          </a:solidFill>
                          <a:effectLst/>
                          <a:latin typeface="Google Sans Text"/>
                        </a:rPr>
                        <a:t>2. Create a New Workflow</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buNone/>
                      </a:pPr>
                      <a:r>
                        <a:rPr lang="en-US" sz="1200">
                          <a:solidFill>
                            <a:srgbClr val="FFFFFF"/>
                          </a:solidFill>
                          <a:effectLst/>
                        </a:rPr>
                        <a:t>Click the </a:t>
                      </a:r>
                      <a:r>
                        <a:rPr lang="en-US" sz="1200" b="0">
                          <a:solidFill>
                            <a:srgbClr val="FFFFFF"/>
                          </a:solidFill>
                          <a:effectLst/>
                          <a:latin typeface="Google Sans Text"/>
                        </a:rPr>
                        <a:t>"set up a workflow yourself"</a:t>
                      </a:r>
                      <a:r>
                        <a:rPr lang="en-US" sz="1200">
                          <a:solidFill>
                            <a:srgbClr val="FFFFFF"/>
                          </a:solidFill>
                          <a:effectLst/>
                        </a:rPr>
                        <a:t> link.</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tc>
                  <a:txBody>
                    <a:bodyPr/>
                    <a:lstStyle/>
                    <a:p>
                      <a:pPr algn="l" fontAlgn="t">
                        <a:lnSpc>
                          <a:spcPts val="1800"/>
                        </a:lnSpc>
                        <a:buNone/>
                      </a:pPr>
                      <a:r>
                        <a:rPr lang="en-US" sz="1200">
                          <a:solidFill>
                            <a:srgbClr val="FFFFFF"/>
                          </a:solidFill>
                          <a:effectLst/>
                        </a:rPr>
                        <a:t>This will open a new page where you can create a new file. The file will be pre-named </a:t>
                      </a:r>
                      <a:r>
                        <a:rPr lang="en-US" sz="1200" b="0">
                          <a:solidFill>
                            <a:srgbClr val="FFFFFF"/>
                          </a:solidFill>
                          <a:effectLst/>
                          <a:latin typeface="Google Sans Mono"/>
                        </a:rPr>
                        <a:t>main.yml</a:t>
                      </a:r>
                      <a:r>
                        <a:rPr lang="en-US" sz="1200">
                          <a:solidFill>
                            <a:srgbClr val="FFFFFF"/>
                          </a:solidFill>
                          <a:effectLst/>
                        </a:rPr>
                        <a:t> and will be placed in a new folder called </a:t>
                      </a:r>
                      <a:r>
                        <a:rPr lang="en-US" sz="1200" b="0">
                          <a:solidFill>
                            <a:srgbClr val="FFFFFF"/>
                          </a:solidFill>
                          <a:effectLst/>
                          <a:latin typeface="Google Sans Mono"/>
                        </a:rPr>
                        <a:t>.github/workflows/</a:t>
                      </a:r>
                      <a:r>
                        <a:rPr lang="en-US" sz="1200">
                          <a:solidFill>
                            <a:srgbClr val="FFFFFF"/>
                          </a:solidFill>
                          <a:effectLst/>
                        </a:rPr>
                        <a:t>. This is the correct location.</a:t>
                      </a:r>
                    </a:p>
                  </a:txBody>
                  <a:tcPr marL="49140" marR="49140" marT="49140" marB="49140">
                    <a:lnL>
                      <a:noFill/>
                    </a:lnL>
                    <a:lnR>
                      <a:noFill/>
                    </a:lnR>
                    <a:lnT w="9525" cap="flat" cmpd="sng" algn="ctr">
                      <a:solidFill>
                        <a:srgbClr val="444746"/>
                      </a:solidFill>
                      <a:prstDash val="solid"/>
                      <a:round/>
                      <a:headEnd type="none" w="med" len="med"/>
                      <a:tailEnd type="none" w="med" len="med"/>
                    </a:lnT>
                    <a:lnB w="9525" cap="flat" cmpd="sng" algn="ctr">
                      <a:solidFill>
                        <a:srgbClr val="444746"/>
                      </a:solidFill>
                      <a:prstDash val="solid"/>
                      <a:round/>
                      <a:headEnd type="none" w="med" len="med"/>
                      <a:tailEnd type="none" w="med" len="med"/>
                    </a:lnB>
                    <a:solidFill>
                      <a:srgbClr val="131314"/>
                    </a:solidFill>
                  </a:tcPr>
                </a:tc>
                <a:extLst>
                  <a:ext uri="{0D108BD9-81ED-4DB2-BD59-A6C34878D82A}">
                    <a16:rowId xmlns:a16="http://schemas.microsoft.com/office/drawing/2014/main" val="1832912460"/>
                  </a:ext>
                </a:extLst>
              </a:tr>
              <a:tr h="1690413">
                <a:tc>
                  <a:txBody>
                    <a:bodyPr/>
                    <a:lstStyle/>
                    <a:p>
                      <a:pPr algn="l" fontAlgn="t">
                        <a:buNone/>
                      </a:pPr>
                      <a:r>
                        <a:rPr lang="en-US" sz="1200" b="0">
                          <a:solidFill>
                            <a:srgbClr val="FFFFFF"/>
                          </a:solidFill>
                          <a:effectLst/>
                          <a:latin typeface="Google Sans Text"/>
                        </a:rPr>
                        <a:t>3. Paste the Workflow Code</a:t>
                      </a:r>
                      <a:endParaRPr lang="en-US" sz="120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pPr algn="l" fontAlgn="t">
                        <a:buNone/>
                      </a:pPr>
                      <a:r>
                        <a:rPr lang="en-US" sz="1200" dirty="0">
                          <a:solidFill>
                            <a:srgbClr val="FFFFFF"/>
                          </a:solidFill>
                          <a:effectLst/>
                        </a:rPr>
                        <a:t>Delete the boilerplate content that GitHub provides and paste the following code into the editor. </a:t>
                      </a:r>
                      <a:r>
                        <a:rPr lang="en-US" sz="1200" b="0" dirty="0">
                          <a:solidFill>
                            <a:srgbClr val="FFFFFF"/>
                          </a:solidFill>
                          <a:effectLst/>
                          <a:latin typeface="Google Sans Text"/>
                        </a:rPr>
                        <a:t>I have configured it specifically for your project structure.</a:t>
                      </a:r>
                      <a:endParaRPr lang="en-US" sz="1200" dirty="0">
                        <a:solidFill>
                          <a:srgbClr val="FFFFFF"/>
                        </a:solidFill>
                        <a:effectLst/>
                      </a:endParaRPr>
                    </a:p>
                  </a:txBody>
                  <a:tcPr marL="49140" marR="49140" marT="49140" marB="49140">
                    <a:lnL>
                      <a:noFill/>
                    </a:lnL>
                    <a:lnR>
                      <a:noFill/>
                    </a:lnR>
                    <a:lnT w="9525" cap="flat" cmpd="sng" algn="ctr">
                      <a:solidFill>
                        <a:srgbClr val="444746"/>
                      </a:solidFill>
                      <a:prstDash val="solid"/>
                      <a:round/>
                      <a:headEnd type="none" w="med" len="med"/>
                      <a:tailEnd type="none" w="med" len="med"/>
                    </a:lnT>
                    <a:lnB>
                      <a:noFill/>
                    </a:lnB>
                    <a:solidFill>
                      <a:srgbClr val="131314"/>
                    </a:solidFill>
                  </a:tcPr>
                </a:tc>
                <a:tc>
                  <a:txBody>
                    <a:bodyPr/>
                    <a:lstStyle/>
                    <a:p>
                      <a:endParaRPr lang="en-US" sz="1200" dirty="0"/>
                    </a:p>
                  </a:txBody>
                  <a:tcPr marL="58968" marR="58968" marT="29484" marB="29484">
                    <a:lnL>
                      <a:noFill/>
                    </a:lnL>
                    <a:lnT w="9525" cap="flat" cmpd="sng" algn="ctr">
                      <a:solidFill>
                        <a:srgbClr val="444746"/>
                      </a:solidFill>
                      <a:prstDash val="solid"/>
                      <a:round/>
                      <a:headEnd type="none" w="med" len="med"/>
                      <a:tailEnd type="none" w="med" len="med"/>
                    </a:lnT>
                  </a:tcPr>
                </a:tc>
                <a:extLst>
                  <a:ext uri="{0D108BD9-81ED-4DB2-BD59-A6C34878D82A}">
                    <a16:rowId xmlns:a16="http://schemas.microsoft.com/office/drawing/2014/main" val="3926733683"/>
                  </a:ext>
                </a:extLst>
              </a:tr>
            </a:tbl>
          </a:graphicData>
        </a:graphic>
      </p:graphicFrame>
    </p:spTree>
    <p:extLst>
      <p:ext uri="{BB962C8B-B14F-4D97-AF65-F5344CB8AC3E}">
        <p14:creationId xmlns:p14="http://schemas.microsoft.com/office/powerpoint/2010/main" val="33062749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67BBB8-8A93-89BC-0D2C-D1D52E50192D}"/>
              </a:ext>
            </a:extLst>
          </p:cNvPr>
          <p:cNvPicPr>
            <a:picLocks noChangeAspect="1"/>
          </p:cNvPicPr>
          <p:nvPr/>
        </p:nvPicPr>
        <p:blipFill>
          <a:blip r:embed="rId2"/>
          <a:stretch>
            <a:fillRect/>
          </a:stretch>
        </p:blipFill>
        <p:spPr>
          <a:xfrm>
            <a:off x="4616674" y="0"/>
            <a:ext cx="7575326" cy="6858000"/>
          </a:xfrm>
          <a:prstGeom prst="rect">
            <a:avLst/>
          </a:prstGeom>
        </p:spPr>
      </p:pic>
      <p:sp>
        <p:nvSpPr>
          <p:cNvPr id="4" name="TextBox 3">
            <a:extLst>
              <a:ext uri="{FF2B5EF4-FFF2-40B4-BE49-F238E27FC236}">
                <a16:creationId xmlns:a16="http://schemas.microsoft.com/office/drawing/2014/main" id="{1F5FAEA7-2694-3CFD-FE88-5C2BE935249E}"/>
              </a:ext>
            </a:extLst>
          </p:cNvPr>
          <p:cNvSpPr txBox="1"/>
          <p:nvPr/>
        </p:nvSpPr>
        <p:spPr>
          <a:xfrm>
            <a:off x="923192" y="606669"/>
            <a:ext cx="2400300" cy="369332"/>
          </a:xfrm>
          <a:prstGeom prst="rect">
            <a:avLst/>
          </a:prstGeom>
          <a:noFill/>
        </p:spPr>
        <p:txBody>
          <a:bodyPr wrap="square" rtlCol="0">
            <a:spAutoFit/>
          </a:bodyPr>
          <a:lstStyle/>
          <a:p>
            <a:r>
              <a:rPr lang="en-US" dirty="0"/>
              <a:t>Finishing GitHub auth</a:t>
            </a:r>
          </a:p>
        </p:txBody>
      </p:sp>
    </p:spTree>
    <p:extLst>
      <p:ext uri="{BB962C8B-B14F-4D97-AF65-F5344CB8AC3E}">
        <p14:creationId xmlns:p14="http://schemas.microsoft.com/office/powerpoint/2010/main" val="5040041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563D94-AEF0-25D6-1948-F1E9BAC0FEDD}"/>
              </a:ext>
            </a:extLst>
          </p:cNvPr>
          <p:cNvSpPr txBox="1"/>
          <p:nvPr/>
        </p:nvSpPr>
        <p:spPr>
          <a:xfrm>
            <a:off x="1028700" y="1195754"/>
            <a:ext cx="2268415" cy="646331"/>
          </a:xfrm>
          <a:prstGeom prst="rect">
            <a:avLst/>
          </a:prstGeom>
          <a:noFill/>
        </p:spPr>
        <p:txBody>
          <a:bodyPr wrap="square" rtlCol="0">
            <a:spAutoFit/>
          </a:bodyPr>
          <a:lstStyle/>
          <a:p>
            <a:r>
              <a:rPr lang="en-US" dirty="0"/>
              <a:t>Connecting web app to GitHub</a:t>
            </a:r>
          </a:p>
        </p:txBody>
      </p:sp>
      <p:pic>
        <p:nvPicPr>
          <p:cNvPr id="4" name="Picture 3">
            <a:extLst>
              <a:ext uri="{FF2B5EF4-FFF2-40B4-BE49-F238E27FC236}">
                <a16:creationId xmlns:a16="http://schemas.microsoft.com/office/drawing/2014/main" id="{F57E78A7-7A2A-8D8D-9AB5-5C02B36C8B7F}"/>
              </a:ext>
            </a:extLst>
          </p:cNvPr>
          <p:cNvPicPr>
            <a:picLocks noChangeAspect="1"/>
          </p:cNvPicPr>
          <p:nvPr/>
        </p:nvPicPr>
        <p:blipFill>
          <a:blip r:embed="rId2"/>
          <a:stretch>
            <a:fillRect/>
          </a:stretch>
        </p:blipFill>
        <p:spPr>
          <a:xfrm>
            <a:off x="2141283" y="0"/>
            <a:ext cx="7909434" cy="6858000"/>
          </a:xfrm>
          <a:prstGeom prst="rect">
            <a:avLst/>
          </a:prstGeom>
        </p:spPr>
      </p:pic>
    </p:spTree>
    <p:extLst>
      <p:ext uri="{BB962C8B-B14F-4D97-AF65-F5344CB8AC3E}">
        <p14:creationId xmlns:p14="http://schemas.microsoft.com/office/powerpoint/2010/main" val="6201281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E39EFB6-0F86-E1E7-7FAE-21CA316D8995}"/>
              </a:ext>
            </a:extLst>
          </p:cNvPr>
          <p:cNvPicPr>
            <a:picLocks noChangeAspect="1"/>
          </p:cNvPicPr>
          <p:nvPr/>
        </p:nvPicPr>
        <p:blipFill>
          <a:blip r:embed="rId2"/>
          <a:stretch>
            <a:fillRect/>
          </a:stretch>
        </p:blipFill>
        <p:spPr>
          <a:xfrm>
            <a:off x="2002812" y="0"/>
            <a:ext cx="10189188" cy="6858000"/>
          </a:xfrm>
          <a:prstGeom prst="rect">
            <a:avLst/>
          </a:prstGeom>
        </p:spPr>
      </p:pic>
    </p:spTree>
    <p:extLst>
      <p:ext uri="{BB962C8B-B14F-4D97-AF65-F5344CB8AC3E}">
        <p14:creationId xmlns:p14="http://schemas.microsoft.com/office/powerpoint/2010/main" val="16964531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85DF68-629B-A805-5DFB-D2ED4DD842AD}"/>
              </a:ext>
            </a:extLst>
          </p:cNvPr>
          <p:cNvPicPr>
            <a:picLocks noChangeAspect="1"/>
          </p:cNvPicPr>
          <p:nvPr/>
        </p:nvPicPr>
        <p:blipFill>
          <a:blip r:embed="rId2"/>
          <a:stretch>
            <a:fillRect/>
          </a:stretch>
        </p:blipFill>
        <p:spPr>
          <a:xfrm>
            <a:off x="1001406" y="0"/>
            <a:ext cx="10189188" cy="6858000"/>
          </a:xfrm>
          <a:prstGeom prst="rect">
            <a:avLst/>
          </a:prstGeom>
        </p:spPr>
      </p:pic>
    </p:spTree>
    <p:extLst>
      <p:ext uri="{BB962C8B-B14F-4D97-AF65-F5344CB8AC3E}">
        <p14:creationId xmlns:p14="http://schemas.microsoft.com/office/powerpoint/2010/main" val="10937364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E21CDD-8DBA-F93E-162E-A178604C8A2A}"/>
              </a:ext>
            </a:extLst>
          </p:cNvPr>
          <p:cNvPicPr>
            <a:picLocks noChangeAspect="1"/>
          </p:cNvPicPr>
          <p:nvPr/>
        </p:nvPicPr>
        <p:blipFill>
          <a:blip r:embed="rId2"/>
          <a:stretch>
            <a:fillRect/>
          </a:stretch>
        </p:blipFill>
        <p:spPr>
          <a:xfrm>
            <a:off x="1001406" y="0"/>
            <a:ext cx="10189188" cy="6858000"/>
          </a:xfrm>
          <a:prstGeom prst="rect">
            <a:avLst/>
          </a:prstGeom>
        </p:spPr>
      </p:pic>
    </p:spTree>
    <p:extLst>
      <p:ext uri="{BB962C8B-B14F-4D97-AF65-F5344CB8AC3E}">
        <p14:creationId xmlns:p14="http://schemas.microsoft.com/office/powerpoint/2010/main" val="1866919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C1C62A-910D-5FDE-D15E-12DBD39ECBC7}"/>
              </a:ext>
            </a:extLst>
          </p:cNvPr>
          <p:cNvPicPr>
            <a:picLocks noChangeAspect="1"/>
          </p:cNvPicPr>
          <p:nvPr/>
        </p:nvPicPr>
        <p:blipFill>
          <a:blip r:embed="rId2"/>
          <a:stretch>
            <a:fillRect/>
          </a:stretch>
        </p:blipFill>
        <p:spPr>
          <a:xfrm>
            <a:off x="4282566" y="0"/>
            <a:ext cx="7909434" cy="6858000"/>
          </a:xfrm>
          <a:prstGeom prst="rect">
            <a:avLst/>
          </a:prstGeom>
        </p:spPr>
      </p:pic>
      <p:sp>
        <p:nvSpPr>
          <p:cNvPr id="4" name="TextBox 3">
            <a:extLst>
              <a:ext uri="{FF2B5EF4-FFF2-40B4-BE49-F238E27FC236}">
                <a16:creationId xmlns:a16="http://schemas.microsoft.com/office/drawing/2014/main" id="{C7DBA870-DC75-6A6B-8614-A7E513151A59}"/>
              </a:ext>
            </a:extLst>
          </p:cNvPr>
          <p:cNvSpPr txBox="1"/>
          <p:nvPr/>
        </p:nvSpPr>
        <p:spPr>
          <a:xfrm>
            <a:off x="439615" y="597877"/>
            <a:ext cx="2760785" cy="369332"/>
          </a:xfrm>
          <a:prstGeom prst="rect">
            <a:avLst/>
          </a:prstGeom>
          <a:noFill/>
        </p:spPr>
        <p:txBody>
          <a:bodyPr wrap="square" rtlCol="0">
            <a:spAutoFit/>
          </a:bodyPr>
          <a:lstStyle/>
          <a:p>
            <a:r>
              <a:rPr lang="en-US"/>
              <a:t>New App GW</a:t>
            </a:r>
          </a:p>
        </p:txBody>
      </p:sp>
    </p:spTree>
    <p:extLst>
      <p:ext uri="{BB962C8B-B14F-4D97-AF65-F5344CB8AC3E}">
        <p14:creationId xmlns:p14="http://schemas.microsoft.com/office/powerpoint/2010/main" val="13981099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54eecc5-e26c-4620-b240-5a8bb326c33d}" enabled="1" method="Privileged" siteId="{fae6d70f-954b-4811-92b6-0530d6f84c43}" removed="0"/>
</clbl:labelList>
</file>

<file path=docProps/app.xml><?xml version="1.0" encoding="utf-8"?>
<Properties xmlns="http://schemas.openxmlformats.org/officeDocument/2006/extended-properties" xmlns:vt="http://schemas.openxmlformats.org/officeDocument/2006/docPropsVTypes">
  <TotalTime>1822</TotalTime>
  <Words>809</Words>
  <Application>Microsoft Office PowerPoint</Application>
  <PresentationFormat>Widescreen</PresentationFormat>
  <Paragraphs>54</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Google Sans Mono</vt:lpstr>
      <vt:lpstr>Google Sans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Leary, Joseph D CIV NG MAARNG (USA)</dc:creator>
  <cp:lastModifiedBy>Joe Leary</cp:lastModifiedBy>
  <cp:revision>6</cp:revision>
  <dcterms:created xsi:type="dcterms:W3CDTF">2026-02-27T15:56:45Z</dcterms:created>
  <dcterms:modified xsi:type="dcterms:W3CDTF">2026-03-02T23:57:41Z</dcterms:modified>
</cp:coreProperties>
</file>