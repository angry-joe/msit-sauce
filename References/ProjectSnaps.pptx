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FD5B78-09B7-4551-8C32-BE3E3A1CF1E8}" v="1" dt="2026-02-27T15:59:11.8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13" autoAdjust="0"/>
    <p:restoredTop sz="94660"/>
  </p:normalViewPr>
  <p:slideViewPr>
    <p:cSldViewPr snapToGrid="0">
      <p:cViewPr varScale="1">
        <p:scale>
          <a:sx n="109" d="100"/>
          <a:sy n="109" d="100"/>
        </p:scale>
        <p:origin x="732" y="31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ary, Joseph D CIV NG MAARNG (USA)" userId="779534d9-4337-4ff3-98aa-2bb62dd85054" providerId="ADAL" clId="{CB76DD6E-AC63-4224-8A40-A5B3A2EFA617}"/>
    <pc:docChg chg="custSel addSld modSld">
      <pc:chgData name="Leary, Joseph D CIV NG MAARNG (USA)" userId="779534d9-4337-4ff3-98aa-2bb62dd85054" providerId="ADAL" clId="{CB76DD6E-AC63-4224-8A40-A5B3A2EFA617}" dt="2026-02-27T16:01:28.241" v="167" actId="680"/>
      <pc:docMkLst>
        <pc:docMk/>
      </pc:docMkLst>
      <pc:sldChg chg="addSp modSp mod">
        <pc:chgData name="Leary, Joseph D CIV NG MAARNG (USA)" userId="779534d9-4337-4ff3-98aa-2bb62dd85054" providerId="ADAL" clId="{CB76DD6E-AC63-4224-8A40-A5B3A2EFA617}" dt="2026-02-27T16:01:25.247" v="166" actId="962"/>
        <pc:sldMkLst>
          <pc:docMk/>
          <pc:sldMk cId="3861888063" sldId="256"/>
        </pc:sldMkLst>
        <pc:spChg chg="add mod">
          <ac:chgData name="Leary, Joseph D CIV NG MAARNG (USA)" userId="779534d9-4337-4ff3-98aa-2bb62dd85054" providerId="ADAL" clId="{CB76DD6E-AC63-4224-8A40-A5B3A2EFA617}" dt="2026-02-27T15:59:57.916" v="163" actId="20577"/>
          <ac:spMkLst>
            <pc:docMk/>
            <pc:sldMk cId="3861888063" sldId="256"/>
            <ac:spMk id="4" creationId="{02F07B4B-A5B1-04E8-C32B-8DFF4789B09C}"/>
          </ac:spMkLst>
        </pc:spChg>
        <pc:picChg chg="add mod">
          <ac:chgData name="Leary, Joseph D CIV NG MAARNG (USA)" userId="779534d9-4337-4ff3-98aa-2bb62dd85054" providerId="ADAL" clId="{CB76DD6E-AC63-4224-8A40-A5B3A2EFA617}" dt="2026-02-27T16:01:25.247" v="166" actId="962"/>
          <ac:picMkLst>
            <pc:docMk/>
            <pc:sldMk cId="3861888063" sldId="256"/>
            <ac:picMk id="6" creationId="{3A3CE6F1-4D93-4379-2926-7D715A728B44}"/>
          </ac:picMkLst>
        </pc:picChg>
      </pc:sldChg>
      <pc:sldChg chg="new">
        <pc:chgData name="Leary, Joseph D CIV NG MAARNG (USA)" userId="779534d9-4337-4ff3-98aa-2bb62dd85054" providerId="ADAL" clId="{CB76DD6E-AC63-4224-8A40-A5B3A2EFA617}" dt="2026-02-27T16:01:28.241" v="167" actId="680"/>
        <pc:sldMkLst>
          <pc:docMk/>
          <pc:sldMk cId="993993506" sldId="257"/>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2F9CF-7065-DE77-242C-05B1D106FF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4CC6377-6CC1-86A3-DEC7-24061099E14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A17932-5B31-3166-7F5D-7A06AE047C29}"/>
              </a:ext>
            </a:extLst>
          </p:cNvPr>
          <p:cNvSpPr>
            <a:spLocks noGrp="1"/>
          </p:cNvSpPr>
          <p:nvPr>
            <p:ph type="dt" sz="half" idx="10"/>
          </p:nvPr>
        </p:nvSpPr>
        <p:spPr/>
        <p:txBody>
          <a:bodyPr/>
          <a:lstStyle/>
          <a:p>
            <a:fld id="{7DEE96FE-DC9C-4536-9FF4-6BA93424ACA5}" type="datetimeFigureOut">
              <a:rPr lang="en-US" smtClean="0"/>
              <a:t>2/28/2026</a:t>
            </a:fld>
            <a:endParaRPr lang="en-US"/>
          </a:p>
        </p:txBody>
      </p:sp>
      <p:sp>
        <p:nvSpPr>
          <p:cNvPr id="5" name="Footer Placeholder 4">
            <a:extLst>
              <a:ext uri="{FF2B5EF4-FFF2-40B4-BE49-F238E27FC236}">
                <a16:creationId xmlns:a16="http://schemas.microsoft.com/office/drawing/2014/main" id="{D73D453F-F9B6-3FA0-AA03-6AA9896F10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7E2B66-A80E-8312-F316-7E51CBE6DCD1}"/>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18373821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2F56B-1141-DD0D-5F06-AA5A26AB1B9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896C065-7EE2-D079-CE9D-6CDF0C65BB4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5A62D0-6275-3CDD-410C-7D83A7C399E7}"/>
              </a:ext>
            </a:extLst>
          </p:cNvPr>
          <p:cNvSpPr>
            <a:spLocks noGrp="1"/>
          </p:cNvSpPr>
          <p:nvPr>
            <p:ph type="dt" sz="half" idx="10"/>
          </p:nvPr>
        </p:nvSpPr>
        <p:spPr/>
        <p:txBody>
          <a:bodyPr/>
          <a:lstStyle/>
          <a:p>
            <a:fld id="{7DEE96FE-DC9C-4536-9FF4-6BA93424ACA5}" type="datetimeFigureOut">
              <a:rPr lang="en-US" smtClean="0"/>
              <a:t>2/28/2026</a:t>
            </a:fld>
            <a:endParaRPr lang="en-US"/>
          </a:p>
        </p:txBody>
      </p:sp>
      <p:sp>
        <p:nvSpPr>
          <p:cNvPr id="5" name="Footer Placeholder 4">
            <a:extLst>
              <a:ext uri="{FF2B5EF4-FFF2-40B4-BE49-F238E27FC236}">
                <a16:creationId xmlns:a16="http://schemas.microsoft.com/office/drawing/2014/main" id="{8E6A0FBB-919E-A8F1-78BB-D76478DE37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AC01D2-11F3-31F3-0DE5-EB19C5E50E03}"/>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1489688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8EACA9-0A20-989A-26E7-426B46DADFF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400A6E-C1BA-0E52-17C8-4B7D7D0C97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83AC08-F7E4-1D7D-CB57-E13DB98E2A36}"/>
              </a:ext>
            </a:extLst>
          </p:cNvPr>
          <p:cNvSpPr>
            <a:spLocks noGrp="1"/>
          </p:cNvSpPr>
          <p:nvPr>
            <p:ph type="dt" sz="half" idx="10"/>
          </p:nvPr>
        </p:nvSpPr>
        <p:spPr/>
        <p:txBody>
          <a:bodyPr/>
          <a:lstStyle/>
          <a:p>
            <a:fld id="{7DEE96FE-DC9C-4536-9FF4-6BA93424ACA5}" type="datetimeFigureOut">
              <a:rPr lang="en-US" smtClean="0"/>
              <a:t>2/28/2026</a:t>
            </a:fld>
            <a:endParaRPr lang="en-US"/>
          </a:p>
        </p:txBody>
      </p:sp>
      <p:sp>
        <p:nvSpPr>
          <p:cNvPr id="5" name="Footer Placeholder 4">
            <a:extLst>
              <a:ext uri="{FF2B5EF4-FFF2-40B4-BE49-F238E27FC236}">
                <a16:creationId xmlns:a16="http://schemas.microsoft.com/office/drawing/2014/main" id="{2365F7ED-0CBD-A9FF-300C-FB3F1E38AF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BB39A7-AE5B-8C78-7D15-F3679DA5FD78}"/>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2375852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4937A-19D6-6BC2-0B45-CF16B29F85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6A84B5-A65F-E438-E715-D79BF8D9E9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D409482-AAAD-1F70-BF37-3CF88543721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216D5B0-7962-3C31-6C46-525D0EC7718D}"/>
              </a:ext>
            </a:extLst>
          </p:cNvPr>
          <p:cNvSpPr>
            <a:spLocks noGrp="1"/>
          </p:cNvSpPr>
          <p:nvPr>
            <p:ph type="dt" sz="half" idx="10"/>
          </p:nvPr>
        </p:nvSpPr>
        <p:spPr/>
        <p:txBody>
          <a:bodyPr/>
          <a:lstStyle/>
          <a:p>
            <a:fld id="{7DEE96FE-DC9C-4536-9FF4-6BA93424ACA5}" type="datetimeFigureOut">
              <a:rPr lang="en-US" smtClean="0"/>
              <a:t>2/28/2026</a:t>
            </a:fld>
            <a:endParaRPr lang="en-US"/>
          </a:p>
        </p:txBody>
      </p:sp>
      <p:sp>
        <p:nvSpPr>
          <p:cNvPr id="6" name="Footer Placeholder 5">
            <a:extLst>
              <a:ext uri="{FF2B5EF4-FFF2-40B4-BE49-F238E27FC236}">
                <a16:creationId xmlns:a16="http://schemas.microsoft.com/office/drawing/2014/main" id="{9F4ED630-7E20-F6F4-9CAB-C3BCE63F22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8ECF65F-65F3-7CAE-75DA-5BE1219E4926}"/>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3999126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17C7C6-D4DB-3B97-7B88-C06EF23385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B410A96-C50B-044D-4FA6-6B3628BFF73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19BBEAA-C7E9-3843-2AE9-31EF77F8F7B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01DC56C-89A4-3CBE-ABC0-BEF46DCEB10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BEC0844-2026-56AD-F075-37AF89A2EA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9455DBF-30EC-0E9A-E980-4B4C622FDDC3}"/>
              </a:ext>
            </a:extLst>
          </p:cNvPr>
          <p:cNvSpPr>
            <a:spLocks noGrp="1"/>
          </p:cNvSpPr>
          <p:nvPr>
            <p:ph type="dt" sz="half" idx="10"/>
          </p:nvPr>
        </p:nvSpPr>
        <p:spPr/>
        <p:txBody>
          <a:bodyPr/>
          <a:lstStyle/>
          <a:p>
            <a:fld id="{7DEE96FE-DC9C-4536-9FF4-6BA93424ACA5}" type="datetimeFigureOut">
              <a:rPr lang="en-US" smtClean="0"/>
              <a:t>2/28/2026</a:t>
            </a:fld>
            <a:endParaRPr lang="en-US"/>
          </a:p>
        </p:txBody>
      </p:sp>
      <p:sp>
        <p:nvSpPr>
          <p:cNvPr id="8" name="Footer Placeholder 7">
            <a:extLst>
              <a:ext uri="{FF2B5EF4-FFF2-40B4-BE49-F238E27FC236}">
                <a16:creationId xmlns:a16="http://schemas.microsoft.com/office/drawing/2014/main" id="{0E3243CD-14B4-B168-B384-BDB7CBB61D3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8A1F335-BE81-C86D-B181-F7474A5DCA3A}"/>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10244194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88042-938D-4804-95BF-D4DAE03B2A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B7CCC00-088C-D3D4-496C-1E0551EDC3E7}"/>
              </a:ext>
            </a:extLst>
          </p:cNvPr>
          <p:cNvSpPr>
            <a:spLocks noGrp="1"/>
          </p:cNvSpPr>
          <p:nvPr>
            <p:ph type="dt" sz="half" idx="10"/>
          </p:nvPr>
        </p:nvSpPr>
        <p:spPr/>
        <p:txBody>
          <a:bodyPr/>
          <a:lstStyle/>
          <a:p>
            <a:fld id="{7DEE96FE-DC9C-4536-9FF4-6BA93424ACA5}" type="datetimeFigureOut">
              <a:rPr lang="en-US" smtClean="0"/>
              <a:t>2/28/2026</a:t>
            </a:fld>
            <a:endParaRPr lang="en-US"/>
          </a:p>
        </p:txBody>
      </p:sp>
      <p:sp>
        <p:nvSpPr>
          <p:cNvPr id="4" name="Footer Placeholder 3">
            <a:extLst>
              <a:ext uri="{FF2B5EF4-FFF2-40B4-BE49-F238E27FC236}">
                <a16:creationId xmlns:a16="http://schemas.microsoft.com/office/drawing/2014/main" id="{8C031110-74D2-C0B8-91CF-E60381D101B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960B93-6C92-3024-5CC1-82025B774B56}"/>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6034389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37B392-74BE-E286-FA70-10C91A2DEAD9}"/>
              </a:ext>
            </a:extLst>
          </p:cNvPr>
          <p:cNvSpPr>
            <a:spLocks noGrp="1"/>
          </p:cNvSpPr>
          <p:nvPr>
            <p:ph type="dt" sz="half" idx="10"/>
          </p:nvPr>
        </p:nvSpPr>
        <p:spPr/>
        <p:txBody>
          <a:bodyPr/>
          <a:lstStyle/>
          <a:p>
            <a:fld id="{7DEE96FE-DC9C-4536-9FF4-6BA93424ACA5}" type="datetimeFigureOut">
              <a:rPr lang="en-US" smtClean="0"/>
              <a:t>2/28/2026</a:t>
            </a:fld>
            <a:endParaRPr lang="en-US"/>
          </a:p>
        </p:txBody>
      </p:sp>
      <p:sp>
        <p:nvSpPr>
          <p:cNvPr id="3" name="Footer Placeholder 2">
            <a:extLst>
              <a:ext uri="{FF2B5EF4-FFF2-40B4-BE49-F238E27FC236}">
                <a16:creationId xmlns:a16="http://schemas.microsoft.com/office/drawing/2014/main" id="{188BD70D-7E8A-3505-F5E7-F1D4FC61D0D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FA91D74-D71D-254F-607F-04FA10BD9CC0}"/>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33468894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E6EE5-35F8-2A54-C7CB-2E1DFB562D6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16D7F55-5DAD-3758-148D-A0C2E430887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717949-3DA1-9ABD-323B-B312C8EDC9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FD49B6-D627-7F19-BA7C-1E5B6C946D79}"/>
              </a:ext>
            </a:extLst>
          </p:cNvPr>
          <p:cNvSpPr>
            <a:spLocks noGrp="1"/>
          </p:cNvSpPr>
          <p:nvPr>
            <p:ph type="dt" sz="half" idx="10"/>
          </p:nvPr>
        </p:nvSpPr>
        <p:spPr/>
        <p:txBody>
          <a:bodyPr/>
          <a:lstStyle/>
          <a:p>
            <a:fld id="{7DEE96FE-DC9C-4536-9FF4-6BA93424ACA5}" type="datetimeFigureOut">
              <a:rPr lang="en-US" smtClean="0"/>
              <a:t>2/28/2026</a:t>
            </a:fld>
            <a:endParaRPr lang="en-US"/>
          </a:p>
        </p:txBody>
      </p:sp>
      <p:sp>
        <p:nvSpPr>
          <p:cNvPr id="6" name="Footer Placeholder 5">
            <a:extLst>
              <a:ext uri="{FF2B5EF4-FFF2-40B4-BE49-F238E27FC236}">
                <a16:creationId xmlns:a16="http://schemas.microsoft.com/office/drawing/2014/main" id="{344999B2-0647-7BFD-D071-F77D18D421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93630BB-ED89-7723-D71F-404DA541462D}"/>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33098533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91B45-BB09-DB48-69FF-A1A20A5105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31B6DD-8524-BB61-DD7F-8C814660BEE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D847FA4-5C66-B41D-A527-D5B61FA5E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3857A-C873-67C8-9E3A-B867A9EC613A}"/>
              </a:ext>
            </a:extLst>
          </p:cNvPr>
          <p:cNvSpPr>
            <a:spLocks noGrp="1"/>
          </p:cNvSpPr>
          <p:nvPr>
            <p:ph type="dt" sz="half" idx="10"/>
          </p:nvPr>
        </p:nvSpPr>
        <p:spPr/>
        <p:txBody>
          <a:bodyPr/>
          <a:lstStyle/>
          <a:p>
            <a:fld id="{7DEE96FE-DC9C-4536-9FF4-6BA93424ACA5}" type="datetimeFigureOut">
              <a:rPr lang="en-US" smtClean="0"/>
              <a:t>2/28/2026</a:t>
            </a:fld>
            <a:endParaRPr lang="en-US"/>
          </a:p>
        </p:txBody>
      </p:sp>
      <p:sp>
        <p:nvSpPr>
          <p:cNvPr id="6" name="Footer Placeholder 5">
            <a:extLst>
              <a:ext uri="{FF2B5EF4-FFF2-40B4-BE49-F238E27FC236}">
                <a16:creationId xmlns:a16="http://schemas.microsoft.com/office/drawing/2014/main" id="{F5808F60-1D77-24A5-1A0F-867E3DB611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94ACA8-2E82-23B3-F3F0-ED6A3B2E7E92}"/>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22782904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EB0A34-C4D3-5798-76A3-090A3083373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2E751DA-6BCF-5866-6881-CDB8A3F9DB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1C71D0-9B4B-B5A2-1898-F57820441D11}"/>
              </a:ext>
            </a:extLst>
          </p:cNvPr>
          <p:cNvSpPr>
            <a:spLocks noGrp="1"/>
          </p:cNvSpPr>
          <p:nvPr>
            <p:ph type="dt" sz="half" idx="10"/>
          </p:nvPr>
        </p:nvSpPr>
        <p:spPr/>
        <p:txBody>
          <a:bodyPr/>
          <a:lstStyle/>
          <a:p>
            <a:fld id="{7DEE96FE-DC9C-4536-9FF4-6BA93424ACA5}" type="datetimeFigureOut">
              <a:rPr lang="en-US" smtClean="0"/>
              <a:t>2/28/2026</a:t>
            </a:fld>
            <a:endParaRPr lang="en-US"/>
          </a:p>
        </p:txBody>
      </p:sp>
      <p:sp>
        <p:nvSpPr>
          <p:cNvPr id="5" name="Footer Placeholder 4">
            <a:extLst>
              <a:ext uri="{FF2B5EF4-FFF2-40B4-BE49-F238E27FC236}">
                <a16:creationId xmlns:a16="http://schemas.microsoft.com/office/drawing/2014/main" id="{3D44D2A7-F5B7-8B9C-7E4A-AB31AB69CE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42921E-AB9B-33D7-BD39-C6E6CB0C0D2C}"/>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12436073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B245ECD-9208-B1AE-9247-524AE35BF7D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02D3E36-A2B5-9E1F-77C4-B140352B2A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24AC6BA-AAE2-D3E1-1A85-6399939B1D88}"/>
              </a:ext>
            </a:extLst>
          </p:cNvPr>
          <p:cNvSpPr>
            <a:spLocks noGrp="1"/>
          </p:cNvSpPr>
          <p:nvPr>
            <p:ph type="dt" sz="half" idx="10"/>
          </p:nvPr>
        </p:nvSpPr>
        <p:spPr/>
        <p:txBody>
          <a:bodyPr/>
          <a:lstStyle/>
          <a:p>
            <a:fld id="{7DEE96FE-DC9C-4536-9FF4-6BA93424ACA5}" type="datetimeFigureOut">
              <a:rPr lang="en-US" smtClean="0"/>
              <a:t>2/28/2026</a:t>
            </a:fld>
            <a:endParaRPr lang="en-US"/>
          </a:p>
        </p:txBody>
      </p:sp>
      <p:sp>
        <p:nvSpPr>
          <p:cNvPr id="5" name="Footer Placeholder 4">
            <a:extLst>
              <a:ext uri="{FF2B5EF4-FFF2-40B4-BE49-F238E27FC236}">
                <a16:creationId xmlns:a16="http://schemas.microsoft.com/office/drawing/2014/main" id="{EA08B1F7-1B4D-1337-80AA-E1A77B0AD3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BB40B3-7C25-BA7E-1466-1CC76CE9E6D7}"/>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28122215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AF0BD1-893F-0868-7173-3E3FC804DD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71037E4-6317-CEF7-DD2E-DDD5C1C95E4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62A2FD-3A48-196F-35A9-0A2420BC81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DEE96FE-DC9C-4536-9FF4-6BA93424ACA5}" type="datetimeFigureOut">
              <a:rPr lang="en-US" smtClean="0"/>
              <a:t>2/28/2026</a:t>
            </a:fld>
            <a:endParaRPr lang="en-US"/>
          </a:p>
        </p:txBody>
      </p:sp>
      <p:sp>
        <p:nvSpPr>
          <p:cNvPr id="5" name="Footer Placeholder 4">
            <a:extLst>
              <a:ext uri="{FF2B5EF4-FFF2-40B4-BE49-F238E27FC236}">
                <a16:creationId xmlns:a16="http://schemas.microsoft.com/office/drawing/2014/main" id="{65A14947-BAA5-6842-C2C9-E18E031F643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AE78E5D-E2DF-52A7-8809-1D543978481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59A875-3830-4AFB-98F7-13D694E094CC}" type="slidenum">
              <a:rPr lang="en-US" smtClean="0"/>
              <a:t>‹#›</a:t>
            </a:fld>
            <a:endParaRPr lang="en-US"/>
          </a:p>
        </p:txBody>
      </p:sp>
    </p:spTree>
    <p:extLst>
      <p:ext uri="{BB962C8B-B14F-4D97-AF65-F5344CB8AC3E}">
        <p14:creationId xmlns:p14="http://schemas.microsoft.com/office/powerpoint/2010/main" val="40578560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go.microsoft.com/fwlink/?linkid=2086046" TargetMode="External"/><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2F07B4B-A5B1-04E8-C32B-8DFF4789B09C}"/>
              </a:ext>
            </a:extLst>
          </p:cNvPr>
          <p:cNvSpPr txBox="1"/>
          <p:nvPr/>
        </p:nvSpPr>
        <p:spPr>
          <a:xfrm>
            <a:off x="484742" y="638978"/>
            <a:ext cx="2588964" cy="1754326"/>
          </a:xfrm>
          <a:prstGeom prst="rect">
            <a:avLst/>
          </a:prstGeom>
          <a:noFill/>
        </p:spPr>
        <p:txBody>
          <a:bodyPr wrap="square" rtlCol="0">
            <a:spAutoFit/>
          </a:bodyPr>
          <a:lstStyle/>
          <a:p>
            <a:r>
              <a:rPr lang="en-US" dirty="0"/>
              <a:t>Already started DB, but don’t want to get too far.</a:t>
            </a:r>
          </a:p>
          <a:p>
            <a:r>
              <a:rPr lang="en-US" dirty="0"/>
              <a:t>Virtual Network up first. We want security and segments for different data/services to live on.</a:t>
            </a:r>
          </a:p>
        </p:txBody>
      </p:sp>
      <p:pic>
        <p:nvPicPr>
          <p:cNvPr id="6" name="Picture 5" descr="A screenshot of a computer&#10;&#10;AI-generated content may be incorrect.">
            <a:extLst>
              <a:ext uri="{FF2B5EF4-FFF2-40B4-BE49-F238E27FC236}">
                <a16:creationId xmlns:a16="http://schemas.microsoft.com/office/drawing/2014/main" id="{3A3CE6F1-4D93-4379-2926-7D715A728B44}"/>
              </a:ext>
            </a:extLst>
          </p:cNvPr>
          <p:cNvPicPr>
            <a:picLocks noChangeAspect="1"/>
          </p:cNvPicPr>
          <p:nvPr/>
        </p:nvPicPr>
        <p:blipFill>
          <a:blip r:embed="rId2"/>
          <a:stretch>
            <a:fillRect/>
          </a:stretch>
        </p:blipFill>
        <p:spPr>
          <a:xfrm>
            <a:off x="2300100" y="0"/>
            <a:ext cx="7591800" cy="6858000"/>
          </a:xfrm>
          <a:prstGeom prst="rect">
            <a:avLst/>
          </a:prstGeom>
        </p:spPr>
      </p:pic>
    </p:spTree>
    <p:extLst>
      <p:ext uri="{BB962C8B-B14F-4D97-AF65-F5344CB8AC3E}">
        <p14:creationId xmlns:p14="http://schemas.microsoft.com/office/powerpoint/2010/main" val="38618880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9F80F84-7DA0-EDA6-93EE-7BDA4A105B5A}"/>
              </a:ext>
            </a:extLst>
          </p:cNvPr>
          <p:cNvSpPr txBox="1"/>
          <p:nvPr/>
        </p:nvSpPr>
        <p:spPr>
          <a:xfrm>
            <a:off x="597877" y="518746"/>
            <a:ext cx="2092569" cy="646331"/>
          </a:xfrm>
          <a:prstGeom prst="rect">
            <a:avLst/>
          </a:prstGeom>
          <a:noFill/>
        </p:spPr>
        <p:txBody>
          <a:bodyPr wrap="square" rtlCol="0">
            <a:spAutoFit/>
          </a:bodyPr>
          <a:lstStyle/>
          <a:p>
            <a:r>
              <a:rPr lang="en-US" dirty="0"/>
              <a:t>Adding Azure Functions app</a:t>
            </a:r>
          </a:p>
        </p:txBody>
      </p:sp>
      <p:pic>
        <p:nvPicPr>
          <p:cNvPr id="4" name="Picture 3">
            <a:extLst>
              <a:ext uri="{FF2B5EF4-FFF2-40B4-BE49-F238E27FC236}">
                <a16:creationId xmlns:a16="http://schemas.microsoft.com/office/drawing/2014/main" id="{E39A70FC-FEF1-384C-3C52-FD79809C6C4D}"/>
              </a:ext>
            </a:extLst>
          </p:cNvPr>
          <p:cNvPicPr>
            <a:picLocks noChangeAspect="1"/>
          </p:cNvPicPr>
          <p:nvPr/>
        </p:nvPicPr>
        <p:blipFill>
          <a:blip r:embed="rId2"/>
          <a:stretch>
            <a:fillRect/>
          </a:stretch>
        </p:blipFill>
        <p:spPr>
          <a:xfrm>
            <a:off x="1814914" y="0"/>
            <a:ext cx="8562172" cy="6858000"/>
          </a:xfrm>
          <a:prstGeom prst="rect">
            <a:avLst/>
          </a:prstGeom>
        </p:spPr>
      </p:pic>
    </p:spTree>
    <p:extLst>
      <p:ext uri="{BB962C8B-B14F-4D97-AF65-F5344CB8AC3E}">
        <p14:creationId xmlns:p14="http://schemas.microsoft.com/office/powerpoint/2010/main" val="9939935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D535B-A547-10A7-7968-004EB1FC81FF}"/>
              </a:ext>
            </a:extLst>
          </p:cNvPr>
          <p:cNvPicPr>
            <a:picLocks noChangeAspect="1"/>
          </p:cNvPicPr>
          <p:nvPr/>
        </p:nvPicPr>
        <p:blipFill>
          <a:blip r:embed="rId2"/>
          <a:stretch>
            <a:fillRect/>
          </a:stretch>
        </p:blipFill>
        <p:spPr>
          <a:xfrm>
            <a:off x="1814914" y="0"/>
            <a:ext cx="8562172" cy="6858000"/>
          </a:xfrm>
          <a:prstGeom prst="rect">
            <a:avLst/>
          </a:prstGeom>
        </p:spPr>
      </p:pic>
    </p:spTree>
    <p:extLst>
      <p:ext uri="{BB962C8B-B14F-4D97-AF65-F5344CB8AC3E}">
        <p14:creationId xmlns:p14="http://schemas.microsoft.com/office/powerpoint/2010/main" val="37209720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823891C-D735-0137-4920-8D4F33286F1F}"/>
              </a:ext>
            </a:extLst>
          </p:cNvPr>
          <p:cNvPicPr>
            <a:picLocks noChangeAspect="1"/>
          </p:cNvPicPr>
          <p:nvPr/>
        </p:nvPicPr>
        <p:blipFill>
          <a:blip r:embed="rId2"/>
          <a:stretch>
            <a:fillRect/>
          </a:stretch>
        </p:blipFill>
        <p:spPr>
          <a:xfrm>
            <a:off x="1814914" y="0"/>
            <a:ext cx="8562172" cy="6858000"/>
          </a:xfrm>
          <a:prstGeom prst="rect">
            <a:avLst/>
          </a:prstGeom>
        </p:spPr>
      </p:pic>
    </p:spTree>
    <p:extLst>
      <p:ext uri="{BB962C8B-B14F-4D97-AF65-F5344CB8AC3E}">
        <p14:creationId xmlns:p14="http://schemas.microsoft.com/office/powerpoint/2010/main" val="83128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7FE5DFF-C9E8-67CC-95B2-5E4F19517EE2}"/>
              </a:ext>
            </a:extLst>
          </p:cNvPr>
          <p:cNvPicPr>
            <a:picLocks noChangeAspect="1"/>
          </p:cNvPicPr>
          <p:nvPr/>
        </p:nvPicPr>
        <p:blipFill>
          <a:blip r:embed="rId2"/>
          <a:stretch>
            <a:fillRect/>
          </a:stretch>
        </p:blipFill>
        <p:spPr>
          <a:xfrm>
            <a:off x="1814914" y="0"/>
            <a:ext cx="8562172" cy="6858000"/>
          </a:xfrm>
          <a:prstGeom prst="rect">
            <a:avLst/>
          </a:prstGeom>
        </p:spPr>
      </p:pic>
    </p:spTree>
    <p:extLst>
      <p:ext uri="{BB962C8B-B14F-4D97-AF65-F5344CB8AC3E}">
        <p14:creationId xmlns:p14="http://schemas.microsoft.com/office/powerpoint/2010/main" val="21258306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27FB9D-3E38-3707-FC4E-AAD21489BE27}"/>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19D66657-158B-83E6-8AA2-49589CF72AE4}"/>
              </a:ext>
            </a:extLst>
          </p:cNvPr>
          <p:cNvSpPr txBox="1"/>
          <p:nvPr/>
        </p:nvSpPr>
        <p:spPr>
          <a:xfrm>
            <a:off x="430823" y="465992"/>
            <a:ext cx="2699239" cy="1754326"/>
          </a:xfrm>
          <a:prstGeom prst="rect">
            <a:avLst/>
          </a:prstGeom>
          <a:noFill/>
        </p:spPr>
        <p:txBody>
          <a:bodyPr wrap="square" rtlCol="0">
            <a:spAutoFit/>
          </a:bodyPr>
          <a:lstStyle/>
          <a:p>
            <a:r>
              <a:rPr lang="en-US" dirty="0"/>
              <a:t>Scary! Had to read this over a few times. I need Outbound public access to SQL over the </a:t>
            </a:r>
            <a:r>
              <a:rPr lang="en-US" dirty="0" err="1"/>
              <a:t>vnet</a:t>
            </a:r>
            <a:r>
              <a:rPr lang="en-US" dirty="0"/>
              <a:t> and Inbound public for testing.</a:t>
            </a:r>
          </a:p>
        </p:txBody>
      </p:sp>
    </p:spTree>
    <p:extLst>
      <p:ext uri="{BB962C8B-B14F-4D97-AF65-F5344CB8AC3E}">
        <p14:creationId xmlns:p14="http://schemas.microsoft.com/office/powerpoint/2010/main" val="42603352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9187BC-CA8E-BE47-ADB1-3BB7EB7A4D5A}"/>
              </a:ext>
            </a:extLst>
          </p:cNvPr>
          <p:cNvPicPr>
            <a:picLocks noChangeAspect="1"/>
          </p:cNvPicPr>
          <p:nvPr/>
        </p:nvPicPr>
        <p:blipFill>
          <a:blip r:embed="rId2"/>
          <a:stretch>
            <a:fillRect/>
          </a:stretch>
        </p:blipFill>
        <p:spPr>
          <a:xfrm>
            <a:off x="4616674" y="0"/>
            <a:ext cx="7575326" cy="6858000"/>
          </a:xfrm>
          <a:prstGeom prst="rect">
            <a:avLst/>
          </a:prstGeom>
        </p:spPr>
      </p:pic>
    </p:spTree>
    <p:extLst>
      <p:ext uri="{BB962C8B-B14F-4D97-AF65-F5344CB8AC3E}">
        <p14:creationId xmlns:p14="http://schemas.microsoft.com/office/powerpoint/2010/main" val="1651847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8244C39-CFE7-DAE4-21B2-6692F14C06C5}"/>
              </a:ext>
            </a:extLst>
          </p:cNvPr>
          <p:cNvPicPr>
            <a:picLocks noChangeAspect="1"/>
          </p:cNvPicPr>
          <p:nvPr/>
        </p:nvPicPr>
        <p:blipFill>
          <a:blip r:embed="rId2"/>
          <a:stretch>
            <a:fillRect/>
          </a:stretch>
        </p:blipFill>
        <p:spPr>
          <a:xfrm>
            <a:off x="4616674" y="0"/>
            <a:ext cx="7575326" cy="6858000"/>
          </a:xfrm>
          <a:prstGeom prst="rect">
            <a:avLst/>
          </a:prstGeom>
        </p:spPr>
      </p:pic>
    </p:spTree>
    <p:extLst>
      <p:ext uri="{BB962C8B-B14F-4D97-AF65-F5344CB8AC3E}">
        <p14:creationId xmlns:p14="http://schemas.microsoft.com/office/powerpoint/2010/main" val="1065775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80A0D-EA2A-89E2-BAE6-C05189D58521}"/>
              </a:ext>
            </a:extLst>
          </p:cNvPr>
          <p:cNvPicPr>
            <a:picLocks noChangeAspect="1"/>
          </p:cNvPicPr>
          <p:nvPr/>
        </p:nvPicPr>
        <p:blipFill>
          <a:blip r:embed="rId2"/>
          <a:stretch>
            <a:fillRect/>
          </a:stretch>
        </p:blipFill>
        <p:spPr>
          <a:xfrm>
            <a:off x="4616674" y="0"/>
            <a:ext cx="7575326" cy="6858000"/>
          </a:xfrm>
          <a:prstGeom prst="rect">
            <a:avLst/>
          </a:prstGeom>
        </p:spPr>
      </p:pic>
    </p:spTree>
    <p:extLst>
      <p:ext uri="{BB962C8B-B14F-4D97-AF65-F5344CB8AC3E}">
        <p14:creationId xmlns:p14="http://schemas.microsoft.com/office/powerpoint/2010/main" val="2630786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3A752B3-875D-2B43-2C43-F1376050C48E}"/>
              </a:ext>
            </a:extLst>
          </p:cNvPr>
          <p:cNvPicPr>
            <a:picLocks noChangeAspect="1"/>
          </p:cNvPicPr>
          <p:nvPr/>
        </p:nvPicPr>
        <p:blipFill>
          <a:blip r:embed="rId2"/>
          <a:stretch>
            <a:fillRect/>
          </a:stretch>
        </p:blipFill>
        <p:spPr>
          <a:xfrm>
            <a:off x="4616674" y="0"/>
            <a:ext cx="7575326" cy="6858000"/>
          </a:xfrm>
          <a:prstGeom prst="rect">
            <a:avLst/>
          </a:prstGeom>
        </p:spPr>
      </p:pic>
    </p:spTree>
    <p:extLst>
      <p:ext uri="{BB962C8B-B14F-4D97-AF65-F5344CB8AC3E}">
        <p14:creationId xmlns:p14="http://schemas.microsoft.com/office/powerpoint/2010/main" val="10376639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B2130EF-4C55-E90E-1D07-D57E4E935C90}"/>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4B7A89F9-EA3A-7B3A-A4A7-C5E97D87E42C}"/>
              </a:ext>
            </a:extLst>
          </p:cNvPr>
          <p:cNvSpPr txBox="1"/>
          <p:nvPr/>
        </p:nvSpPr>
        <p:spPr>
          <a:xfrm>
            <a:off x="404445" y="606668"/>
            <a:ext cx="4062047" cy="4493538"/>
          </a:xfrm>
          <a:prstGeom prst="rect">
            <a:avLst/>
          </a:prstGeom>
          <a:noFill/>
        </p:spPr>
        <p:txBody>
          <a:bodyPr wrap="square" rtlCol="0">
            <a:spAutoFit/>
          </a:bodyPr>
          <a:lstStyle/>
          <a:p>
            <a:r>
              <a:rPr lang="en-US" sz="1100" dirty="0"/>
              <a:t>Add the WEBSITE_VNET_ROUTE_ALL to </a:t>
            </a:r>
            <a:r>
              <a:rPr lang="en-US" sz="1100" dirty="0" err="1"/>
              <a:t>Enviropnment</a:t>
            </a:r>
            <a:r>
              <a:rPr lang="en-US" sz="1100" dirty="0"/>
              <a:t> vars.</a:t>
            </a:r>
          </a:p>
          <a:p>
            <a:r>
              <a:rPr lang="en-US" sz="1100" b="1" dirty="0"/>
              <a:t>Purpose of WEBSITE_VNET_ROUTE_ALL=1</a:t>
            </a:r>
          </a:p>
          <a:p>
            <a:r>
              <a:rPr lang="en-US" sz="1100" dirty="0"/>
              <a:t>This is a special app setting for Azure App Service / Azure Functions when you have </a:t>
            </a:r>
            <a:r>
              <a:rPr lang="en-US" sz="1100" b="1" dirty="0" err="1"/>
              <a:t>VNet</a:t>
            </a:r>
            <a:r>
              <a:rPr lang="en-US" sz="1100" b="1" dirty="0"/>
              <a:t> Integration</a:t>
            </a:r>
            <a:r>
              <a:rPr lang="en-US" sz="1100" dirty="0"/>
              <a:t> enabled.</a:t>
            </a:r>
          </a:p>
          <a:p>
            <a:r>
              <a:rPr lang="en-US" sz="1100" b="1" dirty="0"/>
              <a:t>Default behavior (0 or not set)</a:t>
            </a:r>
            <a:r>
              <a:rPr lang="en-US" sz="1100" dirty="0"/>
              <a:t>: Only </a:t>
            </a:r>
            <a:r>
              <a:rPr lang="en-US" sz="1100" b="1" dirty="0"/>
              <a:t>private</a:t>
            </a:r>
            <a:r>
              <a:rPr lang="en-US" sz="1100" dirty="0"/>
              <a:t> outbound traffic (RFC 1918 addresses like 10.x.x.x, 172.16.x.x, 192.168.x.x) is sent through your </a:t>
            </a:r>
            <a:r>
              <a:rPr lang="en-US" sz="1100" dirty="0" err="1"/>
              <a:t>VNet</a:t>
            </a:r>
            <a:r>
              <a:rPr lang="en-US" sz="1100" dirty="0"/>
              <a:t>/subnet. All public internet traffic goes straight out to the internet.</a:t>
            </a:r>
          </a:p>
          <a:p>
            <a:r>
              <a:rPr lang="en-US" sz="1100" b="1" dirty="0"/>
              <a:t>When set to 1</a:t>
            </a:r>
            <a:r>
              <a:rPr lang="en-US" sz="1100" dirty="0"/>
              <a:t>: </a:t>
            </a:r>
            <a:r>
              <a:rPr lang="en-US" sz="1100" b="1" dirty="0"/>
              <a:t>ALL</a:t>
            </a:r>
            <a:r>
              <a:rPr lang="en-US" sz="1100" dirty="0"/>
              <a:t> outbound traffic from your Function App (private + public internet) is forced through the </a:t>
            </a:r>
            <a:r>
              <a:rPr lang="en-US" sz="1100" dirty="0" err="1"/>
              <a:t>VNet</a:t>
            </a:r>
            <a:r>
              <a:rPr lang="en-US" sz="1100" dirty="0"/>
              <a:t> integration subnet (in your case, WebApp-Subnet).</a:t>
            </a:r>
          </a:p>
          <a:p>
            <a:r>
              <a:rPr lang="en-US" sz="1100" b="1" dirty="0"/>
              <a:t>Why we set it for your project</a:t>
            </a:r>
            <a:r>
              <a:rPr lang="en-US" sz="1100" dirty="0"/>
              <a:t>:</a:t>
            </a:r>
          </a:p>
          <a:p>
            <a:r>
              <a:rPr lang="en-US" sz="1100" dirty="0"/>
              <a:t>Your SQL connection string uses the public-looking name dr-helpdesk-sql-2026.database.windows.net.</a:t>
            </a:r>
          </a:p>
          <a:p>
            <a:r>
              <a:rPr lang="en-US" sz="1100" dirty="0"/>
              <a:t>That name resolves (via your private DNS zone) to a </a:t>
            </a:r>
            <a:r>
              <a:rPr lang="en-US" sz="1100" b="1" dirty="0"/>
              <a:t>private IP</a:t>
            </a:r>
            <a:r>
              <a:rPr lang="en-US" sz="1100" dirty="0"/>
              <a:t> in Database-Subnet.</a:t>
            </a:r>
          </a:p>
          <a:p>
            <a:r>
              <a:rPr lang="en-US" sz="1100" dirty="0"/>
              <a:t>Setting this to 1 guarantees the traffic is routed correctly through the </a:t>
            </a:r>
            <a:r>
              <a:rPr lang="en-US" sz="1100" dirty="0" err="1"/>
              <a:t>VNet</a:t>
            </a:r>
            <a:r>
              <a:rPr lang="en-US" sz="1100" dirty="0"/>
              <a:t> → hits the Private Endpoint reliably.</a:t>
            </a:r>
          </a:p>
          <a:p>
            <a:r>
              <a:rPr lang="en-US" sz="1100" dirty="0"/>
              <a:t>It also handles DNS resolution, storage account access (for Functions runtime), and any other outbound calls consistently.</a:t>
            </a:r>
          </a:p>
          <a:p>
            <a:r>
              <a:rPr lang="en-US" sz="1100" dirty="0"/>
              <a:t>Without it, you can sometimes hit intermittent “cannot reach SQL” or DNS issues, especially with cross-region setups like yours (East US </a:t>
            </a:r>
            <a:r>
              <a:rPr lang="en-US" sz="1100" dirty="0" err="1"/>
              <a:t>VNet</a:t>
            </a:r>
            <a:r>
              <a:rPr lang="en-US" sz="1100" dirty="0"/>
              <a:t> → Central US SQL).</a:t>
            </a:r>
          </a:p>
          <a:p>
            <a:r>
              <a:rPr lang="en-US" sz="1100" dirty="0"/>
              <a:t>It’s the standard, battle-tested way to make private SQL + Functions work smoothly.</a:t>
            </a:r>
          </a:p>
          <a:p>
            <a:endParaRPr lang="en-US" sz="1100" dirty="0"/>
          </a:p>
        </p:txBody>
      </p:sp>
    </p:spTree>
    <p:extLst>
      <p:ext uri="{BB962C8B-B14F-4D97-AF65-F5344CB8AC3E}">
        <p14:creationId xmlns:p14="http://schemas.microsoft.com/office/powerpoint/2010/main" val="30486813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EC4729C-E45A-2680-E420-B1B9F38B82DD}"/>
              </a:ext>
            </a:extLst>
          </p:cNvPr>
          <p:cNvPicPr>
            <a:picLocks noChangeAspect="1"/>
          </p:cNvPicPr>
          <p:nvPr/>
        </p:nvPicPr>
        <p:blipFill>
          <a:blip r:embed="rId2"/>
          <a:stretch>
            <a:fillRect/>
          </a:stretch>
        </p:blipFill>
        <p:spPr>
          <a:xfrm>
            <a:off x="1857375" y="690562"/>
            <a:ext cx="8477250" cy="5476875"/>
          </a:xfrm>
          <a:prstGeom prst="rect">
            <a:avLst/>
          </a:prstGeom>
        </p:spPr>
      </p:pic>
    </p:spTree>
    <p:extLst>
      <p:ext uri="{BB962C8B-B14F-4D97-AF65-F5344CB8AC3E}">
        <p14:creationId xmlns:p14="http://schemas.microsoft.com/office/powerpoint/2010/main" val="41753078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2787B9B-AB72-0BB3-37D9-EC2AA8143876}"/>
              </a:ext>
            </a:extLst>
          </p:cNvPr>
          <p:cNvPicPr>
            <a:picLocks noChangeAspect="1"/>
          </p:cNvPicPr>
          <p:nvPr/>
        </p:nvPicPr>
        <p:blipFill>
          <a:blip r:embed="rId2"/>
          <a:stretch>
            <a:fillRect/>
          </a:stretch>
        </p:blipFill>
        <p:spPr>
          <a:xfrm>
            <a:off x="1857375" y="690562"/>
            <a:ext cx="8477250" cy="5476875"/>
          </a:xfrm>
          <a:prstGeom prst="rect">
            <a:avLst/>
          </a:prstGeom>
        </p:spPr>
      </p:pic>
    </p:spTree>
    <p:extLst>
      <p:ext uri="{BB962C8B-B14F-4D97-AF65-F5344CB8AC3E}">
        <p14:creationId xmlns:p14="http://schemas.microsoft.com/office/powerpoint/2010/main" val="33733115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A021BFD-447D-DC9B-9214-DC6D4C8F69EE}"/>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303E087E-0F7F-5119-5C40-36BFDA854FFA}"/>
              </a:ext>
            </a:extLst>
          </p:cNvPr>
          <p:cNvSpPr txBox="1"/>
          <p:nvPr/>
        </p:nvSpPr>
        <p:spPr>
          <a:xfrm>
            <a:off x="509954" y="378069"/>
            <a:ext cx="2839915" cy="923330"/>
          </a:xfrm>
          <a:prstGeom prst="rect">
            <a:avLst/>
          </a:prstGeom>
          <a:noFill/>
        </p:spPr>
        <p:txBody>
          <a:bodyPr wrap="square" rtlCol="0">
            <a:spAutoFit/>
          </a:bodyPr>
          <a:lstStyle/>
          <a:p>
            <a:r>
              <a:rPr lang="en-US" dirty="0"/>
              <a:t>Add the SQL connection string as an environment var in app</a:t>
            </a:r>
          </a:p>
        </p:txBody>
      </p:sp>
    </p:spTree>
    <p:extLst>
      <p:ext uri="{BB962C8B-B14F-4D97-AF65-F5344CB8AC3E}">
        <p14:creationId xmlns:p14="http://schemas.microsoft.com/office/powerpoint/2010/main" val="7344059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0BAF048-E1EA-CD54-061E-85C58DD3E732}"/>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E4B5D688-0D98-1401-78D2-7516057BA2C5}"/>
              </a:ext>
            </a:extLst>
          </p:cNvPr>
          <p:cNvSpPr txBox="1"/>
          <p:nvPr/>
        </p:nvSpPr>
        <p:spPr>
          <a:xfrm>
            <a:off x="79843" y="492370"/>
            <a:ext cx="4536831" cy="3139321"/>
          </a:xfrm>
          <a:prstGeom prst="rect">
            <a:avLst/>
          </a:prstGeom>
          <a:noFill/>
        </p:spPr>
        <p:txBody>
          <a:bodyPr wrap="square" rtlCol="0">
            <a:spAutoFit/>
          </a:bodyPr>
          <a:lstStyle/>
          <a:p>
            <a:r>
              <a:rPr lang="en-US" dirty="0"/>
              <a:t>Authorize GitHub</a:t>
            </a:r>
          </a:p>
          <a:p>
            <a:r>
              <a:rPr lang="en-US" dirty="0"/>
              <a:t>App Service will place a GitHub Actions workflow in your chosen repository to build and deploy your app whenever there is a commit on the chosen branch. If you can't find an organization or repository, you may need to enable additional permissions on GitHub. You must have write access to your chosen GitHub repository to deploy with GitHub Actions.</a:t>
            </a:r>
            <a:br>
              <a:rPr lang="en-US" dirty="0">
                <a:hlinkClick r:id="rId3"/>
              </a:rPr>
            </a:br>
            <a:endParaRPr lang="en-US" dirty="0"/>
          </a:p>
        </p:txBody>
      </p:sp>
    </p:spTree>
    <p:extLst>
      <p:ext uri="{BB962C8B-B14F-4D97-AF65-F5344CB8AC3E}">
        <p14:creationId xmlns:p14="http://schemas.microsoft.com/office/powerpoint/2010/main" val="31668439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EBFAD50-FD5C-8D6A-6B06-37D770AB632F}"/>
              </a:ext>
            </a:extLst>
          </p:cNvPr>
          <p:cNvPicPr>
            <a:picLocks noChangeAspect="1"/>
          </p:cNvPicPr>
          <p:nvPr/>
        </p:nvPicPr>
        <p:blipFill>
          <a:blip r:embed="rId2"/>
          <a:stretch>
            <a:fillRect/>
          </a:stretch>
        </p:blipFill>
        <p:spPr>
          <a:xfrm>
            <a:off x="0" y="685483"/>
            <a:ext cx="12192000" cy="5487034"/>
          </a:xfrm>
          <a:prstGeom prst="rect">
            <a:avLst/>
          </a:prstGeom>
        </p:spPr>
      </p:pic>
    </p:spTree>
    <p:extLst>
      <p:ext uri="{BB962C8B-B14F-4D97-AF65-F5344CB8AC3E}">
        <p14:creationId xmlns:p14="http://schemas.microsoft.com/office/powerpoint/2010/main" val="39410721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67BBB8-8A93-89BC-0D2C-D1D52E50192D}"/>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1F5FAEA7-2694-3CFD-FE88-5C2BE935249E}"/>
              </a:ext>
            </a:extLst>
          </p:cNvPr>
          <p:cNvSpPr txBox="1"/>
          <p:nvPr/>
        </p:nvSpPr>
        <p:spPr>
          <a:xfrm>
            <a:off x="923192" y="606669"/>
            <a:ext cx="2400300" cy="369332"/>
          </a:xfrm>
          <a:prstGeom prst="rect">
            <a:avLst/>
          </a:prstGeom>
          <a:noFill/>
        </p:spPr>
        <p:txBody>
          <a:bodyPr wrap="square" rtlCol="0">
            <a:spAutoFit/>
          </a:bodyPr>
          <a:lstStyle/>
          <a:p>
            <a:r>
              <a:rPr lang="en-US" dirty="0"/>
              <a:t>Finishing GitHub auth</a:t>
            </a:r>
          </a:p>
        </p:txBody>
      </p:sp>
    </p:spTree>
    <p:extLst>
      <p:ext uri="{BB962C8B-B14F-4D97-AF65-F5344CB8AC3E}">
        <p14:creationId xmlns:p14="http://schemas.microsoft.com/office/powerpoint/2010/main" val="5040041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C563D94-AEF0-25D6-1948-F1E9BAC0FEDD}"/>
              </a:ext>
            </a:extLst>
          </p:cNvPr>
          <p:cNvSpPr txBox="1"/>
          <p:nvPr/>
        </p:nvSpPr>
        <p:spPr>
          <a:xfrm>
            <a:off x="1028700" y="1195754"/>
            <a:ext cx="2268415" cy="369332"/>
          </a:xfrm>
          <a:prstGeom prst="rect">
            <a:avLst/>
          </a:prstGeom>
          <a:noFill/>
        </p:spPr>
        <p:txBody>
          <a:bodyPr wrap="square" rtlCol="0">
            <a:spAutoFit/>
          </a:bodyPr>
          <a:lstStyle/>
          <a:p>
            <a:r>
              <a:rPr lang="en-US"/>
              <a:t>sadf</a:t>
            </a:r>
          </a:p>
        </p:txBody>
      </p:sp>
    </p:spTree>
    <p:extLst>
      <p:ext uri="{BB962C8B-B14F-4D97-AF65-F5344CB8AC3E}">
        <p14:creationId xmlns:p14="http://schemas.microsoft.com/office/powerpoint/2010/main" val="6201281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554eecc5-e26c-4620-b240-5a8bb326c33d}" enabled="1" method="Privileged" siteId="{fae6d70f-954b-4811-92b6-0530d6f84c43}" removed="0"/>
</clbl:labelList>
</file>

<file path=docProps/app.xml><?xml version="1.0" encoding="utf-8"?>
<Properties xmlns="http://schemas.openxmlformats.org/officeDocument/2006/extended-properties" xmlns:vt="http://schemas.openxmlformats.org/officeDocument/2006/docPropsVTypes">
  <TotalTime>1575</TotalTime>
  <Words>404</Words>
  <Application>Microsoft Office PowerPoint</Application>
  <PresentationFormat>Widescreen</PresentationFormat>
  <Paragraphs>21</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Leary, Joseph D CIV NG MAARNG (USA)</dc:creator>
  <cp:lastModifiedBy>Joe Leary</cp:lastModifiedBy>
  <cp:revision>4</cp:revision>
  <dcterms:created xsi:type="dcterms:W3CDTF">2026-02-27T15:56:45Z</dcterms:created>
  <dcterms:modified xsi:type="dcterms:W3CDTF">2026-03-02T01:31:43Z</dcterms:modified>
</cp:coreProperties>
</file>